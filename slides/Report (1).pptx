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8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3" r:id="rId7"/>
    <p:sldId id="266" r:id="rId8"/>
    <p:sldId id="265" r:id="rId9"/>
    <p:sldId id="267" r:id="rId11"/>
    <p:sldId id="269" r:id="rId12"/>
    <p:sldId id="268" r:id="rId13"/>
    <p:sldId id="270" r:id="rId14"/>
    <p:sldId id="273" r:id="rId15"/>
    <p:sldId id="272" r:id="rId16"/>
    <p:sldId id="274" r:id="rId17"/>
    <p:sldId id="275" r:id="rId18"/>
    <p:sldId id="288" r:id="rId19"/>
    <p:sldId id="289" r:id="rId20"/>
    <p:sldId id="277" r:id="rId21"/>
    <p:sldId id="278" r:id="rId22"/>
    <p:sldId id="279" r:id="rId23"/>
    <p:sldId id="281" r:id="rId24"/>
    <p:sldId id="282" r:id="rId25"/>
    <p:sldId id="296" r:id="rId26"/>
    <p:sldId id="284" r:id="rId27"/>
    <p:sldId id="285" r:id="rId28"/>
    <p:sldId id="286" r:id="rId29"/>
    <p:sldId id="290" r:id="rId30"/>
    <p:sldId id="287" r:id="rId31"/>
    <p:sldId id="292" r:id="rId32"/>
    <p:sldId id="293" r:id="rId33"/>
    <p:sldId id="294" r:id="rId34"/>
    <p:sldId id="29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webp"/><Relationship Id="rId1" Type="http://schemas.openxmlformats.org/officeDocument/2006/relationships/image" Target="../media/image17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34883"/>
            <a:ext cx="9144000" cy="2387600"/>
          </a:xfrm>
        </p:spPr>
        <p:txBody>
          <a:bodyPr anchor="ctr" anchorCtr="0"/>
          <a:lstStyle/>
          <a:p>
            <a:r>
              <a:rPr lang="en-US" sz="4400" dirty="0">
                <a:cs typeface="+mj-lt"/>
              </a:rPr>
              <a:t>Phân loại bình luận tiêu cực</a:t>
            </a:r>
            <a:br>
              <a:rPr lang="en-US" sz="4000" dirty="0">
                <a:cs typeface="+mj-lt"/>
              </a:rPr>
            </a:br>
            <a:r>
              <a:rPr lang="en-US" altLang="en-GB" sz="1800" dirty="0">
                <a:cs typeface="+mj-lt"/>
              </a:rPr>
              <a:t>(Ph</a:t>
            </a:r>
            <a:r>
              <a:rPr lang="en-US" altLang="en-US" sz="1800" dirty="0">
                <a:cs typeface="+mj-lt"/>
              </a:rPr>
              <a:t>â</a:t>
            </a:r>
            <a:r>
              <a:rPr lang="en-US" altLang="en-GB" sz="1800" dirty="0">
                <a:cs typeface="+mj-lt"/>
              </a:rPr>
              <a:t>n loại cảm x</a:t>
            </a:r>
            <a:r>
              <a:rPr lang="en-US" altLang="en-US" sz="1800" dirty="0">
                <a:cs typeface="+mj-lt"/>
              </a:rPr>
              <a:t>ú</a:t>
            </a:r>
            <a:r>
              <a:rPr lang="en-US" altLang="en-GB" sz="1800" dirty="0">
                <a:cs typeface="+mj-lt"/>
              </a:rPr>
              <a:t>c từ phản hồi của sinh vi</a:t>
            </a:r>
            <a:r>
              <a:rPr lang="en-US" altLang="en-US" sz="1800" dirty="0">
                <a:cs typeface="+mj-lt"/>
              </a:rPr>
              <a:t>ê</a:t>
            </a:r>
            <a:r>
              <a:rPr lang="en-US" altLang="en-GB" sz="1800" dirty="0">
                <a:cs typeface="+mj-lt"/>
              </a:rPr>
              <a:t>n)</a:t>
            </a:r>
            <a:endParaRPr lang="en-US" altLang="en-GB" sz="1800" dirty="0">
              <a:cs typeface="+mj-lt"/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3987800" y="5514340"/>
          <a:ext cx="4216400" cy="1158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47140"/>
                <a:gridCol w="2969260"/>
              </a:tblGrid>
              <a:tr h="396240"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en-GB" sz="1400">
                          <a:cs typeface="+mn-lt"/>
                          <a:sym typeface="+mn-ea"/>
                        </a:rPr>
                        <a:t>Present by:</a:t>
                      </a:r>
                      <a:endParaRPr lang="en-US" altLang="en-GB" sz="1400">
                        <a:cs typeface="+mn-lt"/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400">
                          <a:cs typeface="+mn-lt"/>
                        </a:rPr>
                        <a:t>Hai-Dang Hoang</a:t>
                      </a:r>
                      <a:endParaRPr lang="en-US" altLang="en-GB" sz="1400">
                        <a:cs typeface="+mn-l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algn="r">
                        <a:buNone/>
                      </a:pPr>
                      <a:endParaRPr lang="en-GB" altLang="en-US" sz="1400">
                        <a:cs typeface="+mn-l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400">
                          <a:cs typeface="+mn-lt"/>
                        </a:rPr>
                        <a:t>Khanh-Toan Tran</a:t>
                      </a:r>
                      <a:endParaRPr lang="en-US" altLang="en-GB" sz="1400">
                        <a:cs typeface="+mn-l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en-GB" sz="1400">
                          <a:cs typeface="+mn-lt"/>
                        </a:rPr>
                        <a:t>Guided by:</a:t>
                      </a:r>
                      <a:endParaRPr lang="en-US" altLang="en-GB" sz="1400">
                        <a:cs typeface="+mn-l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400">
                          <a:cs typeface="+mn-lt"/>
                          <a:sym typeface="+mn-ea"/>
                        </a:rPr>
                        <a:t>Assoc. Prof. Dr. Van-Hau Nguyen</a:t>
                      </a:r>
                      <a:endParaRPr lang="en-US" altLang="en-GB" sz="1400">
                        <a:cs typeface="+mn-lt"/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sz="4000">
                <a:cs typeface="+mj-lt"/>
              </a:rPr>
              <a:t>Mục lục</a:t>
            </a:r>
            <a:endParaRPr lang="en-US" altLang="en-GB" sz="4000">
              <a:cs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02180"/>
          </a:xfrm>
        </p:spPr>
        <p:txBody>
          <a:bodyPr>
            <a:noAutofit/>
          </a:bodyPr>
          <a:p>
            <a:pPr marL="514350" indent="-514350">
              <a:buFont typeface="+mj-lt"/>
              <a:buAutoNum type="arabicPeriod"/>
            </a:pPr>
            <a:r>
              <a:rPr lang="en-US" altLang="en-GB" sz="1800"/>
              <a:t>Introduction</a:t>
            </a:r>
            <a:endParaRPr lang="en-US" altLang="en-GB" sz="1800"/>
          </a:p>
          <a:p>
            <a:pPr marL="514350" indent="-514350">
              <a:buFont typeface="+mj-lt"/>
              <a:buAutoNum type="arabicPeriod"/>
            </a:pPr>
            <a:r>
              <a:rPr lang="en-US" altLang="en-GB" sz="1800">
                <a:sym typeface="+mn-ea"/>
              </a:rPr>
              <a:t>Dataset</a:t>
            </a:r>
            <a:endParaRPr lang="en-US" altLang="en-GB" sz="1800">
              <a:sym typeface="+mn-ea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en-GB" sz="1800">
                <a:sym typeface="+mn-ea"/>
              </a:rPr>
              <a:t>EDA</a:t>
            </a:r>
            <a:endParaRPr lang="en-US" altLang="en-GB" sz="1800">
              <a:sym typeface="+mn-ea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en-GB" sz="1800"/>
              <a:t>Pre-processing</a:t>
            </a:r>
            <a:endParaRPr lang="en-US" altLang="en-GB" sz="1800"/>
          </a:p>
          <a:p>
            <a:pPr marL="514350" indent="-514350">
              <a:buFont typeface="+mj-lt"/>
              <a:buAutoNum type="arabicPeriod"/>
            </a:pPr>
            <a:r>
              <a:rPr lang="en-US" altLang="en-GB" sz="1800"/>
              <a:t>Model</a:t>
            </a:r>
            <a:endParaRPr lang="en-US" altLang="en-GB" sz="1800"/>
          </a:p>
          <a:p>
            <a:pPr marL="514350" indent="-514350">
              <a:buFont typeface="+mj-lt"/>
              <a:buAutoNum type="arabicPeriod"/>
            </a:pPr>
            <a:r>
              <a:rPr lang="en-US" altLang="en-GB" sz="1800"/>
              <a:t>Evaluation</a:t>
            </a:r>
            <a:endParaRPr lang="en-US" altLang="en-GB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2766060"/>
            <a:ext cx="10515600" cy="1325563"/>
          </a:xfrm>
        </p:spPr>
        <p:txBody>
          <a:bodyPr/>
          <a:p>
            <a:pPr algn="ctr"/>
            <a:r>
              <a:rPr lang="en-US" altLang="en-GB">
                <a:cs typeface="+mj-lt"/>
              </a:rPr>
              <a:t>Introduction</a:t>
            </a:r>
            <a:endParaRPr lang="en-US" altLang="en-GB">
              <a:cs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Sentiment Analysis?</a:t>
            </a:r>
            <a:endParaRPr lang="en-US" altLang="en-GB" sz="4000">
              <a:cs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88465"/>
            <a:ext cx="5535295" cy="3423285"/>
          </a:xfrm>
        </p:spPr>
        <p:txBody>
          <a:bodyPr anchor="t" anchorCtr="0">
            <a:normAutofit/>
          </a:bodyPr>
          <a:p>
            <a:pPr marL="0" indent="0">
              <a:buFont typeface="Wingdings" panose="05000000000000000000" charset="0"/>
              <a:buNone/>
            </a:pPr>
            <a:r>
              <a:rPr lang="en-US" altLang="en-GB" sz="1800" b="1">
                <a:cs typeface="+mn-lt"/>
              </a:rPr>
              <a:t>Ph</a:t>
            </a:r>
            <a:r>
              <a:rPr lang="en-US" altLang="en-US" sz="1800" b="1">
                <a:cs typeface="+mn-lt"/>
              </a:rPr>
              <a:t>â</a:t>
            </a:r>
            <a:r>
              <a:rPr lang="en-US" altLang="en-GB" sz="1800" b="1">
                <a:cs typeface="+mn-lt"/>
              </a:rPr>
              <a:t>n t</a:t>
            </a:r>
            <a:r>
              <a:rPr lang="en-US" altLang="en-US" sz="1800" b="1">
                <a:cs typeface="+mn-lt"/>
              </a:rPr>
              <a:t>í</a:t>
            </a:r>
            <a:r>
              <a:rPr lang="en-US" altLang="en-GB" sz="1800" b="1">
                <a:cs typeface="+mn-lt"/>
              </a:rPr>
              <a:t>ch cảm x</a:t>
            </a:r>
            <a:r>
              <a:rPr lang="en-US" altLang="en-US" sz="1800" b="1">
                <a:cs typeface="+mn-lt"/>
              </a:rPr>
              <a:t>ú</a:t>
            </a:r>
            <a:r>
              <a:rPr lang="en-US" altLang="en-GB" sz="1800" b="1">
                <a:cs typeface="+mn-lt"/>
              </a:rPr>
              <a:t>c - </a:t>
            </a:r>
            <a:r>
              <a:rPr lang="en-US" altLang="en-GB" sz="1800" b="1">
                <a:cs typeface="+mn-lt"/>
                <a:sym typeface="+mn-ea"/>
              </a:rPr>
              <a:t>Sentiment Analysis:</a:t>
            </a:r>
            <a:endParaRPr lang="en-US" altLang="en-GB" sz="1800" b="1">
              <a:cs typeface="+mn-lt"/>
            </a:endParaRPr>
          </a:p>
          <a:p>
            <a:pPr>
              <a:buFont typeface="Wingdings" panose="05000000000000000000" charset="0"/>
              <a:buChar char="§"/>
            </a:pPr>
            <a:r>
              <a:rPr lang="en-US" altLang="en-GB" sz="1800">
                <a:cs typeface="+mn-lt"/>
              </a:rPr>
              <a:t>Là một l</a:t>
            </a:r>
            <a:r>
              <a:rPr lang="en-US" altLang="en-US" sz="1800">
                <a:cs typeface="+mn-lt"/>
              </a:rPr>
              <a:t>ĩ</a:t>
            </a:r>
            <a:r>
              <a:rPr lang="en-US" altLang="en-GB" sz="1800">
                <a:cs typeface="+mn-lt"/>
              </a:rPr>
              <a:t>nh vực thuộc </a:t>
            </a:r>
            <a:r>
              <a:rPr lang="en-US" altLang="en-GB" sz="1800" b="1">
                <a:cs typeface="+mn-lt"/>
              </a:rPr>
              <a:t>Xử l</a:t>
            </a:r>
            <a:r>
              <a:rPr lang="en-US" altLang="en-US" sz="1800" b="1">
                <a:cs typeface="+mn-lt"/>
              </a:rPr>
              <a:t>ý</a:t>
            </a:r>
            <a:r>
              <a:rPr lang="en-US" altLang="en-GB" sz="1800" b="1">
                <a:cs typeface="+mn-lt"/>
              </a:rPr>
              <a:t> ngôn ngữ tự nhi</a:t>
            </a:r>
            <a:r>
              <a:rPr lang="en-US" altLang="en-US" sz="1800" b="1">
                <a:cs typeface="+mn-lt"/>
              </a:rPr>
              <a:t>ê</a:t>
            </a:r>
            <a:r>
              <a:rPr lang="en-US" altLang="en-GB" sz="1800" b="1">
                <a:cs typeface="+mn-lt"/>
              </a:rPr>
              <a:t>n - NLP</a:t>
            </a:r>
            <a:r>
              <a:rPr lang="en-US" altLang="en-GB" sz="1800">
                <a:cs typeface="+mn-lt"/>
              </a:rPr>
              <a:t>.</a:t>
            </a:r>
            <a:endParaRPr lang="en-US" altLang="en-GB" sz="1800" b="1">
              <a:cs typeface="+mn-lt"/>
            </a:endParaRPr>
          </a:p>
          <a:p>
            <a:pPr>
              <a:buFont typeface="Wingdings" panose="05000000000000000000" charset="0"/>
              <a:buChar char="§"/>
            </a:pPr>
            <a:r>
              <a:rPr lang="en-US" altLang="en-US" sz="1800">
                <a:cs typeface="+mn-lt"/>
              </a:rPr>
              <a:t>Xá</a:t>
            </a:r>
            <a:r>
              <a:rPr lang="en-US" altLang="en-GB" sz="1800">
                <a:cs typeface="+mn-lt"/>
              </a:rPr>
              <a:t>c </a:t>
            </a:r>
            <a:r>
              <a:rPr lang="en-US" altLang="en-US" sz="1800">
                <a:cs typeface="+mn-lt"/>
              </a:rPr>
              <a:t>đ</a:t>
            </a:r>
            <a:r>
              <a:rPr lang="en-US" altLang="en-GB" sz="1800">
                <a:cs typeface="+mn-lt"/>
              </a:rPr>
              <a:t>ịnh th</a:t>
            </a:r>
            <a:r>
              <a:rPr lang="en-US" altLang="en-US" sz="1800">
                <a:cs typeface="+mn-lt"/>
              </a:rPr>
              <a:t>á</a:t>
            </a:r>
            <a:r>
              <a:rPr lang="en-US" altLang="en-GB" sz="1800">
                <a:cs typeface="+mn-lt"/>
              </a:rPr>
              <a:t>i </a:t>
            </a:r>
            <a:r>
              <a:rPr lang="en-US" altLang="en-US" sz="1800">
                <a:cs typeface="+mn-lt"/>
              </a:rPr>
              <a:t>đ</a:t>
            </a:r>
            <a:r>
              <a:rPr lang="en-US" altLang="en-GB" sz="1800">
                <a:cs typeface="+mn-lt"/>
              </a:rPr>
              <a:t>ộ, cảm x</a:t>
            </a:r>
            <a:r>
              <a:rPr lang="en-US" altLang="en-US" sz="1800">
                <a:cs typeface="+mn-lt"/>
              </a:rPr>
              <a:t>ú</a:t>
            </a:r>
            <a:r>
              <a:rPr lang="en-US" altLang="en-GB" sz="1800">
                <a:cs typeface="+mn-lt"/>
              </a:rPr>
              <a:t>c hoặc quan </a:t>
            </a:r>
            <a:r>
              <a:rPr lang="en-US" altLang="en-US" sz="1800">
                <a:cs typeface="+mn-lt"/>
              </a:rPr>
              <a:t>đ</a:t>
            </a:r>
            <a:r>
              <a:rPr lang="en-US" altLang="en-GB" sz="1800">
                <a:cs typeface="+mn-lt"/>
              </a:rPr>
              <a:t>iểm của ng</a:t>
            </a:r>
            <a:r>
              <a:rPr lang="en-US" altLang="en-US" sz="1800">
                <a:cs typeface="+mn-lt"/>
              </a:rPr>
              <a:t>ư</a:t>
            </a:r>
            <a:r>
              <a:rPr lang="en-US" altLang="en-GB" sz="1800">
                <a:cs typeface="+mn-lt"/>
              </a:rPr>
              <a:t>ời viết </a:t>
            </a:r>
            <a:r>
              <a:rPr lang="en-US" altLang="en-US" sz="1800">
                <a:cs typeface="+mn-lt"/>
              </a:rPr>
              <a:t>đ</a:t>
            </a:r>
            <a:r>
              <a:rPr lang="en-US" altLang="en-GB" sz="1800">
                <a:cs typeface="+mn-lt"/>
              </a:rPr>
              <a:t>ằng sau một </a:t>
            </a:r>
            <a:r>
              <a:rPr lang="en-US" altLang="en-US" sz="1800">
                <a:cs typeface="+mn-lt"/>
              </a:rPr>
              <a:t>đ</a:t>
            </a:r>
            <a:r>
              <a:rPr lang="en-US" altLang="en-GB" sz="1800">
                <a:cs typeface="+mn-lt"/>
              </a:rPr>
              <a:t>oạn v</a:t>
            </a:r>
            <a:r>
              <a:rPr lang="en-US" altLang="en-US" sz="1800">
                <a:cs typeface="+mn-lt"/>
              </a:rPr>
              <a:t>ă</a:t>
            </a:r>
            <a:r>
              <a:rPr lang="en-US" altLang="en-GB" sz="1800">
                <a:cs typeface="+mn-lt"/>
              </a:rPr>
              <a:t>n bản.</a:t>
            </a:r>
            <a:endParaRPr lang="en-US" altLang="en-GB" sz="1800">
              <a:cs typeface="+mn-lt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altLang="en-GB" sz="1800">
              <a:cs typeface="+mn-lt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altLang="en-GB" sz="1800">
              <a:cs typeface="+mn-lt"/>
            </a:endParaRPr>
          </a:p>
        </p:txBody>
      </p:sp>
      <p:pic>
        <p:nvPicPr>
          <p:cNvPr id="16" name="Picture 15" descr="sentiment-analysi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6210" y="1746885"/>
            <a:ext cx="4847669" cy="3364706"/>
          </a:xfrm>
          <a:prstGeom prst="rect">
            <a:avLst/>
          </a:prstGeom>
        </p:spPr>
      </p:pic>
      <p:sp>
        <p:nvSpPr>
          <p:cNvPr id="17" name="Content Placeholder 2"/>
          <p:cNvSpPr>
            <a:spLocks noGrp="1"/>
          </p:cNvSpPr>
          <p:nvPr/>
        </p:nvSpPr>
        <p:spPr>
          <a:xfrm>
            <a:off x="2193290" y="5795645"/>
            <a:ext cx="7804785" cy="617855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charset="0"/>
              <a:buNone/>
            </a:pPr>
            <a:r>
              <a:rPr lang="en-US" altLang="en-GB" sz="1800" b="1">
                <a:cs typeface="+mn-lt"/>
              </a:rPr>
              <a:t>Ph</a:t>
            </a:r>
            <a:r>
              <a:rPr lang="en-US" altLang="en-US" sz="1800" b="1">
                <a:cs typeface="+mn-lt"/>
              </a:rPr>
              <a:t>â</a:t>
            </a:r>
            <a:r>
              <a:rPr lang="en-US" altLang="en-GB" sz="1800" b="1">
                <a:cs typeface="+mn-lt"/>
              </a:rPr>
              <a:t>n t</a:t>
            </a:r>
            <a:r>
              <a:rPr lang="en-US" altLang="en-US" sz="1800" b="1">
                <a:cs typeface="+mn-lt"/>
              </a:rPr>
              <a:t>í</a:t>
            </a:r>
            <a:r>
              <a:rPr lang="en-US" altLang="en-GB" sz="1800" b="1">
                <a:cs typeface="+mn-lt"/>
              </a:rPr>
              <a:t>ch cảm x</a:t>
            </a:r>
            <a:r>
              <a:rPr lang="en-US" altLang="en-US" sz="1800" b="1">
                <a:cs typeface="+mn-lt"/>
              </a:rPr>
              <a:t>ú</a:t>
            </a:r>
            <a:r>
              <a:rPr lang="en-US" altLang="en-GB" sz="1800" b="1">
                <a:cs typeface="+mn-lt"/>
              </a:rPr>
              <a:t>c là công cụ then chốt trong việc </a:t>
            </a:r>
            <a:r>
              <a:rPr lang="en-US" altLang="en-US" sz="1800" b="1">
                <a:cs typeface="+mn-lt"/>
              </a:rPr>
              <a:t>đá</a:t>
            </a:r>
            <a:r>
              <a:rPr lang="en-US" altLang="en-GB" sz="1800" b="1">
                <a:cs typeface="+mn-lt"/>
              </a:rPr>
              <a:t>nh gi</a:t>
            </a:r>
            <a:r>
              <a:rPr lang="en-US" altLang="en-US" sz="1800" b="1">
                <a:cs typeface="+mn-lt"/>
              </a:rPr>
              <a:t>á</a:t>
            </a:r>
            <a:r>
              <a:rPr lang="en-US" altLang="en-GB" sz="1800" b="1">
                <a:cs typeface="+mn-lt"/>
              </a:rPr>
              <a:t> chất l</a:t>
            </a:r>
            <a:r>
              <a:rPr lang="en-US" altLang="en-US" sz="1800" b="1">
                <a:cs typeface="+mn-lt"/>
              </a:rPr>
              <a:t>ư</a:t>
            </a:r>
            <a:r>
              <a:rPr lang="en-US" altLang="en-GB" sz="1800" b="1">
                <a:cs typeface="+mn-lt"/>
              </a:rPr>
              <a:t>ợng </a:t>
            </a:r>
            <a:r>
              <a:rPr lang="en-US" altLang="en-US" sz="1800" b="1">
                <a:cs typeface="+mn-lt"/>
              </a:rPr>
              <a:t>đ</a:t>
            </a:r>
            <a:r>
              <a:rPr lang="en-US" altLang="en-GB" sz="1800" b="1">
                <a:cs typeface="+mn-lt"/>
              </a:rPr>
              <a:t>ào tạo.</a:t>
            </a:r>
            <a:endParaRPr lang="en-US" altLang="en-GB" sz="1800" b="1"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Lý do chọn đề tài?</a:t>
            </a:r>
            <a:endParaRPr lang="en-US" altLang="en-GB" sz="4000">
              <a:cs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88465"/>
            <a:ext cx="10516235" cy="3480435"/>
          </a:xfrm>
        </p:spPr>
        <p:txBody>
          <a:bodyPr anchor="t" anchorCtr="0">
            <a:normAutofit/>
          </a:bodyPr>
          <a:p>
            <a:pPr marL="0" indent="0">
              <a:buFont typeface="Wingdings" panose="05000000000000000000" charset="0"/>
              <a:buNone/>
            </a:pPr>
            <a:r>
              <a:rPr lang="en-US" altLang="en-GB" sz="1800">
                <a:cs typeface="+mn-lt"/>
              </a:rPr>
              <a:t>Ph</a:t>
            </a:r>
            <a:r>
              <a:rPr lang="en-US" altLang="en-US" sz="1800">
                <a:cs typeface="+mn-lt"/>
              </a:rPr>
              <a:t>â</a:t>
            </a:r>
            <a:r>
              <a:rPr lang="en-US" altLang="en-GB" sz="1800">
                <a:cs typeface="+mn-lt"/>
              </a:rPr>
              <a:t>n t</a:t>
            </a:r>
            <a:r>
              <a:rPr lang="en-US" altLang="en-US" sz="1800">
                <a:cs typeface="+mn-lt"/>
              </a:rPr>
              <a:t>í</a:t>
            </a:r>
            <a:r>
              <a:rPr lang="en-US" altLang="en-GB" sz="1800">
                <a:cs typeface="+mn-lt"/>
              </a:rPr>
              <a:t>ch cảm x</a:t>
            </a:r>
            <a:r>
              <a:rPr lang="en-US" altLang="en-US" sz="1800">
                <a:cs typeface="+mn-lt"/>
              </a:rPr>
              <a:t>ú</a:t>
            </a:r>
            <a:r>
              <a:rPr lang="en-US" altLang="en-GB" sz="1800">
                <a:cs typeface="+mn-lt"/>
              </a:rPr>
              <a:t>c là một l</a:t>
            </a:r>
            <a:r>
              <a:rPr lang="en-US" altLang="en-US" sz="1800">
                <a:cs typeface="+mn-lt"/>
              </a:rPr>
              <a:t>ĩ</a:t>
            </a:r>
            <a:r>
              <a:rPr lang="en-US" altLang="en-GB" sz="1800">
                <a:cs typeface="+mn-lt"/>
              </a:rPr>
              <a:t>nh vực quan trọng trong xử l</a:t>
            </a:r>
            <a:r>
              <a:rPr lang="en-US" altLang="en-US" sz="1800">
                <a:cs typeface="+mn-lt"/>
              </a:rPr>
              <a:t>ý</a:t>
            </a:r>
            <a:r>
              <a:rPr lang="en-US" altLang="en-GB" sz="1800">
                <a:cs typeface="+mn-lt"/>
              </a:rPr>
              <a:t> ngôn ngữ tự nhi</a:t>
            </a:r>
            <a:r>
              <a:rPr lang="en-US" altLang="en-US" sz="1800">
                <a:cs typeface="+mn-lt"/>
              </a:rPr>
              <a:t>ê</a:t>
            </a:r>
            <a:r>
              <a:rPr lang="en-US" altLang="en-GB" sz="1800">
                <a:cs typeface="+mn-lt"/>
              </a:rPr>
              <a:t>n (NLP), </a:t>
            </a:r>
            <a:r>
              <a:rPr lang="en-US" altLang="en-US" sz="1800">
                <a:cs typeface="+mn-lt"/>
              </a:rPr>
              <a:t>đ</a:t>
            </a:r>
            <a:r>
              <a:rPr lang="en-US" altLang="en-GB" sz="1800">
                <a:cs typeface="+mn-lt"/>
              </a:rPr>
              <a:t>ặc biệt khi </a:t>
            </a:r>
            <a:r>
              <a:rPr lang="en-US" altLang="en-US" sz="1800">
                <a:cs typeface="+mn-lt"/>
              </a:rPr>
              <a:t>đư</a:t>
            </a:r>
            <a:r>
              <a:rPr lang="en-US" altLang="en-GB" sz="1800">
                <a:cs typeface="+mn-lt"/>
              </a:rPr>
              <a:t>ợc </a:t>
            </a:r>
            <a:r>
              <a:rPr lang="en-US" altLang="en-US" sz="1800">
                <a:cs typeface="+mn-lt"/>
              </a:rPr>
              <a:t>á</a:t>
            </a:r>
            <a:r>
              <a:rPr lang="en-US" altLang="en-GB" sz="1800">
                <a:cs typeface="+mn-lt"/>
              </a:rPr>
              <a:t>p dụng </a:t>
            </a:r>
            <a:r>
              <a:rPr lang="en-US" altLang="en-US" sz="1800">
                <a:cs typeface="+mn-lt"/>
              </a:rPr>
              <a:t>đ</a:t>
            </a:r>
            <a:r>
              <a:rPr lang="en-US" altLang="en-GB" sz="1800">
                <a:cs typeface="+mn-lt"/>
              </a:rPr>
              <a:t>ể ph</a:t>
            </a:r>
            <a:r>
              <a:rPr lang="en-US" altLang="en-US" sz="1800">
                <a:cs typeface="+mn-lt"/>
              </a:rPr>
              <a:t>â</a:t>
            </a:r>
            <a:r>
              <a:rPr lang="en-US" altLang="en-GB" sz="1800">
                <a:cs typeface="+mn-lt"/>
              </a:rPr>
              <a:t>n t</a:t>
            </a:r>
            <a:r>
              <a:rPr lang="en-US" altLang="en-US" sz="1800">
                <a:cs typeface="+mn-lt"/>
              </a:rPr>
              <a:t>í</a:t>
            </a:r>
            <a:r>
              <a:rPr lang="en-US" altLang="en-GB" sz="1800">
                <a:cs typeface="+mn-lt"/>
              </a:rPr>
              <a:t>ch phản hồi từ sinh vi</a:t>
            </a:r>
            <a:r>
              <a:rPr lang="en-US" altLang="en-US" sz="1800">
                <a:cs typeface="+mn-lt"/>
              </a:rPr>
              <a:t>ê</a:t>
            </a:r>
            <a:r>
              <a:rPr lang="en-US" altLang="en-GB" sz="1800">
                <a:cs typeface="+mn-lt"/>
              </a:rPr>
              <a:t>n.</a:t>
            </a:r>
            <a:endParaRPr lang="en-US" altLang="en-GB" sz="1800">
              <a:cs typeface="+mn-lt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GB" sz="1800">
                <a:cs typeface="+mn-lt"/>
              </a:rPr>
              <a:t>Những phản hồi này th</a:t>
            </a:r>
            <a:r>
              <a:rPr lang="en-US" altLang="en-US" sz="1800">
                <a:cs typeface="+mn-lt"/>
              </a:rPr>
              <a:t>ư</a:t>
            </a:r>
            <a:r>
              <a:rPr lang="en-US" altLang="en-GB" sz="1800">
                <a:cs typeface="+mn-lt"/>
              </a:rPr>
              <a:t>ờng chứa </a:t>
            </a:r>
            <a:r>
              <a:rPr lang="en-US" altLang="en-US" sz="1800">
                <a:cs typeface="+mn-lt"/>
              </a:rPr>
              <a:t>đ</a:t>
            </a:r>
            <a:r>
              <a:rPr lang="en-US" altLang="en-GB" sz="1800">
                <a:cs typeface="+mn-lt"/>
              </a:rPr>
              <a:t>ựng nhiều </a:t>
            </a:r>
            <a:r>
              <a:rPr lang="en-US" altLang="en-US" sz="1800">
                <a:cs typeface="+mn-lt"/>
              </a:rPr>
              <a:t>ý</a:t>
            </a:r>
            <a:r>
              <a:rPr lang="en-US" altLang="en-GB" sz="1800">
                <a:cs typeface="+mn-lt"/>
              </a:rPr>
              <a:t> kiến ​​và cảm x</a:t>
            </a:r>
            <a:r>
              <a:rPr lang="en-US" altLang="en-US" sz="1800">
                <a:cs typeface="+mn-lt"/>
              </a:rPr>
              <a:t>ú</a:t>
            </a:r>
            <a:r>
              <a:rPr lang="en-US" altLang="en-GB" sz="1800">
                <a:cs typeface="+mn-lt"/>
              </a:rPr>
              <a:t>c kh</a:t>
            </a:r>
            <a:r>
              <a:rPr lang="en-US" altLang="en-US" sz="1800">
                <a:cs typeface="+mn-lt"/>
              </a:rPr>
              <a:t>á</a:t>
            </a:r>
            <a:r>
              <a:rPr lang="en-US" altLang="en-GB" sz="1800">
                <a:cs typeface="+mn-lt"/>
              </a:rPr>
              <a:t>c nhau, </a:t>
            </a:r>
            <a:r>
              <a:rPr lang="en-US" altLang="en-US" sz="1800">
                <a:cs typeface="+mn-lt"/>
              </a:rPr>
              <a:t>đ</a:t>
            </a:r>
            <a:r>
              <a:rPr lang="en-US" altLang="en-US" sz="1800">
                <a:cs typeface="+mn-lt"/>
              </a:rPr>
              <a:t>ò</a:t>
            </a:r>
            <a:r>
              <a:rPr lang="en-US" altLang="en-GB" sz="1800">
                <a:cs typeface="+mn-lt"/>
              </a:rPr>
              <a:t>i hỏi c</a:t>
            </a:r>
            <a:r>
              <a:rPr lang="en-US" altLang="en-US" sz="1800">
                <a:cs typeface="+mn-lt"/>
              </a:rPr>
              <a:t>á</a:t>
            </a:r>
            <a:r>
              <a:rPr lang="en-US" altLang="en-GB" sz="1800">
                <a:cs typeface="+mn-lt"/>
              </a:rPr>
              <a:t>c mô h</a:t>
            </a:r>
            <a:r>
              <a:rPr lang="en-US" altLang="en-US" sz="1800">
                <a:cs typeface="+mn-lt"/>
              </a:rPr>
              <a:t>ì</a:t>
            </a:r>
            <a:r>
              <a:rPr lang="en-US" altLang="en-GB" sz="1800">
                <a:cs typeface="+mn-lt"/>
              </a:rPr>
              <a:t>nh mạnh mẽ và linh hoạt </a:t>
            </a:r>
            <a:r>
              <a:rPr lang="en-US" altLang="en-US" sz="1800">
                <a:cs typeface="+mn-lt"/>
              </a:rPr>
              <a:t>đ</a:t>
            </a:r>
            <a:r>
              <a:rPr lang="en-US" altLang="en-GB" sz="1800">
                <a:cs typeface="+mn-lt"/>
              </a:rPr>
              <a:t>ể hiểu và ph</a:t>
            </a:r>
            <a:r>
              <a:rPr lang="en-US" altLang="en-US" sz="1800">
                <a:cs typeface="+mn-lt"/>
              </a:rPr>
              <a:t>â</a:t>
            </a:r>
            <a:r>
              <a:rPr lang="en-US" altLang="en-GB" sz="1800">
                <a:cs typeface="+mn-lt"/>
              </a:rPr>
              <a:t>n loại ch</a:t>
            </a:r>
            <a:r>
              <a:rPr lang="en-US" altLang="en-US" sz="1800">
                <a:cs typeface="+mn-lt"/>
              </a:rPr>
              <a:t>ú</a:t>
            </a:r>
            <a:r>
              <a:rPr lang="en-US" altLang="en-GB" sz="1800">
                <a:cs typeface="+mn-lt"/>
              </a:rPr>
              <a:t>ng một c</a:t>
            </a:r>
            <a:r>
              <a:rPr lang="en-US" altLang="en-US" sz="1800">
                <a:cs typeface="+mn-lt"/>
              </a:rPr>
              <a:t>á</a:t>
            </a:r>
            <a:r>
              <a:rPr lang="en-US" altLang="en-GB" sz="1800">
                <a:cs typeface="+mn-lt"/>
              </a:rPr>
              <a:t>ch ch</a:t>
            </a:r>
            <a:r>
              <a:rPr lang="en-US" altLang="en-US" sz="1800">
                <a:cs typeface="+mn-lt"/>
              </a:rPr>
              <a:t>í</a:t>
            </a:r>
            <a:r>
              <a:rPr lang="en-US" altLang="en-GB" sz="1800">
                <a:cs typeface="+mn-lt"/>
              </a:rPr>
              <a:t>nh x</a:t>
            </a:r>
            <a:r>
              <a:rPr lang="en-US" altLang="en-US" sz="1800">
                <a:cs typeface="+mn-lt"/>
              </a:rPr>
              <a:t>á</a:t>
            </a:r>
            <a:r>
              <a:rPr lang="en-US" altLang="en-GB" sz="1800">
                <a:cs typeface="+mn-lt"/>
              </a:rPr>
              <a:t>c.</a:t>
            </a:r>
            <a:endParaRPr lang="en-US" altLang="en-GB" sz="1800">
              <a:cs typeface="+mn-lt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altLang="en-GB" sz="1800">
              <a:cs typeface="+mn-lt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>
                <a:cs typeface="+mn-lt"/>
              </a:rPr>
              <a:t>Đ</a:t>
            </a:r>
            <a:r>
              <a:rPr lang="en-US" altLang="en-GB" sz="1800">
                <a:cs typeface="+mn-lt"/>
              </a:rPr>
              <a:t>iều này sẽ gi</a:t>
            </a:r>
            <a:r>
              <a:rPr lang="en-US" altLang="en-US" sz="1800">
                <a:cs typeface="+mn-lt"/>
              </a:rPr>
              <a:t>ú</a:t>
            </a:r>
            <a:r>
              <a:rPr lang="en-US" altLang="en-GB" sz="1800">
                <a:cs typeface="+mn-lt"/>
              </a:rPr>
              <a:t>p cải thiện chất l</a:t>
            </a:r>
            <a:r>
              <a:rPr lang="en-US" altLang="en-US" sz="1800">
                <a:cs typeface="+mn-lt"/>
              </a:rPr>
              <a:t>ư</a:t>
            </a:r>
            <a:r>
              <a:rPr lang="en-US" altLang="en-GB" sz="1800">
                <a:cs typeface="+mn-lt"/>
              </a:rPr>
              <a:t>ợng gi</a:t>
            </a:r>
            <a:r>
              <a:rPr lang="en-US" altLang="en-US" sz="1800">
                <a:cs typeface="+mn-lt"/>
              </a:rPr>
              <a:t>á</a:t>
            </a:r>
            <a:r>
              <a:rPr lang="en-US" altLang="en-GB" sz="1800">
                <a:cs typeface="+mn-lt"/>
              </a:rPr>
              <a:t>o dục và môi tr</a:t>
            </a:r>
            <a:r>
              <a:rPr lang="en-US" altLang="en-US" sz="1800">
                <a:cs typeface="+mn-lt"/>
              </a:rPr>
              <a:t>ư</a:t>
            </a:r>
            <a:r>
              <a:rPr lang="en-US" altLang="en-GB" sz="1800">
                <a:cs typeface="+mn-lt"/>
              </a:rPr>
              <a:t>ờng học tập.</a:t>
            </a:r>
            <a:endParaRPr lang="en-US" altLang="en-GB" sz="1800"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2766060"/>
            <a:ext cx="10515600" cy="1325563"/>
          </a:xfrm>
        </p:spPr>
        <p:txBody>
          <a:bodyPr/>
          <a:p>
            <a:pPr algn="ctr"/>
            <a:r>
              <a:rPr lang="en-US" altLang="en-GB">
                <a:cs typeface="+mj-lt"/>
              </a:rPr>
              <a:t>Dataset</a:t>
            </a:r>
            <a:endParaRPr lang="en-US" altLang="en-GB">
              <a:cs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Tổng quan bộ dữ liệu UIT-VSFC</a:t>
            </a:r>
            <a:endParaRPr lang="en-US" altLang="en-GB" sz="4000">
              <a:cs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565" y="1428115"/>
            <a:ext cx="10577830" cy="2205355"/>
          </a:xfrm>
        </p:spPr>
        <p:txBody>
          <a:bodyPr anchor="ctr" anchorCtr="0">
            <a:noAutofit/>
          </a:bodyPr>
          <a:p>
            <a:pPr marL="0" indent="0">
              <a:buFont typeface="Wingdings" panose="05000000000000000000" charset="0"/>
              <a:buNone/>
            </a:pPr>
            <a:r>
              <a:rPr lang="en-US" altLang="en-GB" sz="1800">
                <a:cs typeface="+mn-lt"/>
              </a:rPr>
              <a:t>Tên: Vietnamese Students’ Feedback Corpus.</a:t>
            </a:r>
            <a:endParaRPr lang="en-US" altLang="en-GB" sz="1800">
              <a:cs typeface="+mn-lt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GB" sz="1800">
                <a:cs typeface="+mn-lt"/>
              </a:rPr>
              <a:t>Nguồn: Nh</a:t>
            </a:r>
            <a:r>
              <a:rPr lang="en-US" altLang="en-US" sz="1800">
                <a:cs typeface="+mn-lt"/>
              </a:rPr>
              <a:t>ó</a:t>
            </a:r>
            <a:r>
              <a:rPr lang="en-US" altLang="en-GB" sz="1800">
                <a:cs typeface="+mn-lt"/>
              </a:rPr>
              <a:t>m nghi</a:t>
            </a:r>
            <a:r>
              <a:rPr lang="en-US" altLang="en-US" sz="1800">
                <a:cs typeface="+mn-lt"/>
              </a:rPr>
              <a:t>ê</a:t>
            </a:r>
            <a:r>
              <a:rPr lang="en-US" altLang="en-GB" sz="1800">
                <a:cs typeface="+mn-lt"/>
              </a:rPr>
              <a:t>n cứu tại </a:t>
            </a:r>
            <a:r>
              <a:rPr lang="en-US" altLang="en-US" sz="1800">
                <a:cs typeface="+mn-lt"/>
              </a:rPr>
              <a:t>Đ</a:t>
            </a:r>
            <a:r>
              <a:rPr lang="en-US" altLang="en-GB" sz="1800">
                <a:cs typeface="+mn-lt"/>
              </a:rPr>
              <a:t>ại học Công nghệ Thông tin - </a:t>
            </a:r>
            <a:r>
              <a:rPr lang="en-US" altLang="en-US" sz="1800">
                <a:cs typeface="+mn-lt"/>
              </a:rPr>
              <a:t>Đ</a:t>
            </a:r>
            <a:r>
              <a:rPr lang="en-US" altLang="en-GB" sz="1800">
                <a:cs typeface="+mn-lt"/>
              </a:rPr>
              <a:t>HQG TP.HCM.</a:t>
            </a:r>
            <a:endParaRPr lang="en-US" altLang="en-GB" sz="1800">
              <a:cs typeface="+mn-lt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GB" sz="1800">
                <a:cs typeface="+mn-lt"/>
              </a:rPr>
              <a:t>Cấu tr</a:t>
            </a:r>
            <a:r>
              <a:rPr lang="en-US" altLang="en-US" sz="1800">
                <a:cs typeface="+mn-lt"/>
              </a:rPr>
              <a:t>ú</a:t>
            </a:r>
            <a:r>
              <a:rPr lang="en-US" altLang="en-GB" sz="1800">
                <a:cs typeface="+mn-lt"/>
              </a:rPr>
              <a:t>c ph</a:t>
            </a:r>
            <a:r>
              <a:rPr lang="en-US" altLang="en-US" sz="1800">
                <a:cs typeface="+mn-lt"/>
              </a:rPr>
              <a:t>â</a:t>
            </a:r>
            <a:r>
              <a:rPr lang="en-US" altLang="en-GB" sz="1800">
                <a:cs typeface="+mn-lt"/>
              </a:rPr>
              <a:t>n t</a:t>
            </a:r>
            <a:r>
              <a:rPr lang="en-US" altLang="en-US" sz="1800">
                <a:cs typeface="+mn-lt"/>
              </a:rPr>
              <a:t>á</a:t>
            </a:r>
            <a:r>
              <a:rPr lang="en-US" altLang="en-GB" sz="1800">
                <a:cs typeface="+mn-lt"/>
              </a:rPr>
              <a:t>ch:</a:t>
            </a:r>
            <a:endParaRPr lang="en-US" altLang="en-GB" sz="1800">
              <a:cs typeface="+mn-lt"/>
            </a:endParaRPr>
          </a:p>
          <a:p>
            <a:pPr>
              <a:buFont typeface="Wingdings" panose="05000000000000000000" charset="0"/>
              <a:buChar char="§"/>
            </a:pPr>
            <a:r>
              <a:rPr lang="en-US" altLang="en-GB" sz="1800">
                <a:cs typeface="+mn-lt"/>
              </a:rPr>
              <a:t>Train set: 7980 hàng </a:t>
            </a:r>
            <a:r>
              <a:rPr lang="en-US" altLang="en-US" sz="1800">
                <a:cs typeface="+mn-lt"/>
              </a:rPr>
              <a:t>×</a:t>
            </a:r>
            <a:r>
              <a:rPr lang="en-US" altLang="en-GB" sz="1800">
                <a:cs typeface="+mn-lt"/>
              </a:rPr>
              <a:t> 2 cột.</a:t>
            </a:r>
            <a:endParaRPr lang="en-US" altLang="en-GB" sz="1800">
              <a:cs typeface="+mn-lt"/>
            </a:endParaRPr>
          </a:p>
          <a:p>
            <a:pPr>
              <a:buFont typeface="Wingdings" panose="05000000000000000000" charset="0"/>
              <a:buChar char="§"/>
            </a:pPr>
            <a:r>
              <a:rPr lang="en-US" altLang="en-GB" sz="1800">
                <a:cs typeface="+mn-lt"/>
              </a:rPr>
              <a:t>Dev set: 1119 hàng </a:t>
            </a:r>
            <a:r>
              <a:rPr lang="en-US" altLang="en-US" sz="1800">
                <a:cs typeface="+mn-lt"/>
              </a:rPr>
              <a:t>×</a:t>
            </a:r>
            <a:r>
              <a:rPr lang="en-US" altLang="en-GB" sz="1800">
                <a:cs typeface="+mn-lt"/>
              </a:rPr>
              <a:t> 2 cột.</a:t>
            </a:r>
            <a:endParaRPr lang="en-US" altLang="en-GB" sz="1800">
              <a:cs typeface="+mn-lt"/>
            </a:endParaRPr>
          </a:p>
          <a:p>
            <a:pPr>
              <a:buFont typeface="Wingdings" panose="05000000000000000000" charset="0"/>
              <a:buChar char="§"/>
            </a:pPr>
            <a:r>
              <a:rPr lang="en-US" altLang="en-GB" sz="1800">
                <a:cs typeface="+mn-lt"/>
              </a:rPr>
              <a:t>Test set: 2216 hàng </a:t>
            </a:r>
            <a:r>
              <a:rPr lang="en-US" altLang="en-US" sz="1800">
                <a:cs typeface="+mn-lt"/>
              </a:rPr>
              <a:t>×</a:t>
            </a:r>
            <a:r>
              <a:rPr lang="en-US" altLang="en-GB" sz="1800">
                <a:cs typeface="+mn-lt"/>
              </a:rPr>
              <a:t> 2 cột.</a:t>
            </a:r>
            <a:endParaRPr lang="en-US" altLang="en-GB" sz="1800">
              <a:cs typeface="+mn-lt"/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64360" y="3750310"/>
          <a:ext cx="8463280" cy="291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7885"/>
                <a:gridCol w="5386070"/>
                <a:gridCol w="2219325"/>
              </a:tblGrid>
              <a:tr h="416560">
                <a:tc>
                  <a:txBody>
                    <a:bodyPr/>
                    <a:p>
                      <a:pPr algn="ctr" fontAlgn="ctr"/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sentence</a:t>
                      </a:r>
                      <a:endParaRPr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sentiment</a:t>
                      </a:r>
                      <a:endParaRPr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6560"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slide giáo trình đầy đủ .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positive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6560"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1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nhiệt tình giảng dạy , gần gũi với sinh viên .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positive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6560"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2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đi học đầy đủ full điểm chuyên cần .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negative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6560"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3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chưa áp dụng công nghệ thông tin và các thiết ...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negative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6560">
                <a:tc>
                  <a:txBody>
                    <a:bodyPr/>
                    <a:p>
                      <a:pPr algn="r" fontAlgn="ctr">
                        <a:buNone/>
                      </a:pPr>
                      <a:r>
                        <a:rPr lang="en-US" altLang="en-GB"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...</a:t>
                      </a:r>
                      <a:endParaRPr lang="en-US" altLang="en-GB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r" fontAlgn="ctr">
                        <a:buNone/>
                      </a:pPr>
                      <a:r>
                        <a:rPr lang="en-US" altLang="en-GB"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...</a:t>
                      </a:r>
                      <a:endParaRPr lang="en-US" altLang="en-GB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...</a:t>
                      </a:r>
                      <a:endParaRPr lang="en-US" altLang="en-GB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6560"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10967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gói gọn doubledot hay , tận tình , phù hợp với...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positive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Các feature - label</a:t>
            </a:r>
            <a:endParaRPr lang="en-US" altLang="en-GB" sz="4000">
              <a:cs typeface="+mj-lt"/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2924175" y="2804160"/>
          <a:ext cx="6344285" cy="166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7475"/>
                <a:gridCol w="1673225"/>
                <a:gridCol w="3283585"/>
              </a:tblGrid>
              <a:tr h="416560">
                <a:tc>
                  <a:txBody>
                    <a:bodyPr/>
                    <a:p>
                      <a:pPr algn="ctr" fontAlgn="ctr"/>
                      <a:r>
                        <a:rPr lang="en-US"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Cột</a:t>
                      </a:r>
                      <a:endParaRPr lang="en-US"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Kiểu dữ liệu</a:t>
                      </a:r>
                      <a:endParaRPr lang="en-US"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Chức năng</a:t>
                      </a:r>
                      <a:endParaRPr lang="en-US"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6560"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sentence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object</a:t>
                      </a:r>
                      <a:endParaRPr lang="en-US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Văn bản đánh giá của sinh viên.</a:t>
                      </a:r>
                      <a:endParaRPr lang="en-US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6560">
                <a:tc>
                  <a:txBody>
                    <a:bodyPr/>
                    <a:p>
                      <a:pPr algn="r" fontAlgn="ctr"/>
                      <a:r>
                        <a:rPr sz="1800" b="0">
                          <a:solidFill>
                            <a:schemeClr val="tx1"/>
                          </a:solidFill>
                          <a:ea typeface="Segoe WPC"/>
                          <a:cs typeface="+mn-lt"/>
                          <a:sym typeface="+mn-ea"/>
                        </a:rPr>
                        <a:t>sentiment</a:t>
                      </a:r>
                      <a:endParaRPr lang="en-US" sz="1800" b="0" i="0">
                        <a:solidFill>
                          <a:schemeClr val="tx1"/>
                        </a:solidFill>
                        <a:ea typeface="Segoe WPC"/>
                        <a:cs typeface="+mn-lt"/>
                        <a:sym typeface="+mn-ea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800">
                          <a:solidFill>
                            <a:schemeClr val="tx1"/>
                          </a:solidFill>
                          <a:ea typeface="Segoe WPC"/>
                          <a:cs typeface="+mn-lt"/>
                          <a:sym typeface="+mn-ea"/>
                        </a:rPr>
                        <a:t>object</a:t>
                      </a:r>
                      <a:endParaRPr lang="en-US" sz="1800" b="0" i="0">
                        <a:solidFill>
                          <a:schemeClr val="tx1"/>
                        </a:solidFill>
                        <a:ea typeface="Segoe WPC"/>
                        <a:cs typeface="+mn-lt"/>
                        <a:sym typeface="+mn-ea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Lớp cảm xúc (positive, negative).</a:t>
                      </a:r>
                      <a:endParaRPr lang="en-US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2766060"/>
            <a:ext cx="10515600" cy="1325563"/>
          </a:xfrm>
        </p:spPr>
        <p:txBody>
          <a:bodyPr/>
          <a:p>
            <a:pPr algn="ctr"/>
            <a:r>
              <a:rPr lang="en-US" altLang="en-GB">
                <a:sym typeface="+mn-ea"/>
              </a:rPr>
              <a:t>EDA</a:t>
            </a:r>
            <a:endParaRPr lang="en-US" altLang="en-GB">
              <a:cs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Phân bổ nhãn</a:t>
            </a:r>
            <a:endParaRPr lang="en-US" altLang="en-GB" sz="4000">
              <a:cs typeface="+mj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195" y="1857375"/>
            <a:ext cx="9833610" cy="39617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Phân bổ độ dài câu theo nhãn</a:t>
            </a:r>
            <a:endParaRPr lang="en-US" altLang="en-GB" sz="4000">
              <a:cs typeface="+mj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615315" y="2148840"/>
            <a:ext cx="11059795" cy="3164840"/>
            <a:chOff x="899" y="3111"/>
            <a:chExt cx="17417" cy="4984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1"/>
            <a:srcRect t="7122"/>
            <a:stretch>
              <a:fillRect/>
            </a:stretch>
          </p:blipFill>
          <p:spPr>
            <a:xfrm>
              <a:off x="899" y="3157"/>
              <a:ext cx="8631" cy="4939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rcRect t="6542"/>
            <a:stretch>
              <a:fillRect/>
            </a:stretch>
          </p:blipFill>
          <p:spPr>
            <a:xfrm>
              <a:off x="9660" y="3111"/>
              <a:ext cx="8657" cy="498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Số đặc điểm đặc biệt trong văn bản</a:t>
            </a:r>
            <a:endParaRPr lang="en-US" altLang="en-GB" sz="4000">
              <a:cs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185" y="2120900"/>
            <a:ext cx="11517630" cy="3124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Tần suất xuất hiện các từ theo nhãn</a:t>
            </a:r>
            <a:endParaRPr lang="en-US" altLang="en-GB" sz="4000">
              <a:cs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005" y="2330450"/>
            <a:ext cx="11095754" cy="29860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2766060"/>
            <a:ext cx="10515600" cy="1325563"/>
          </a:xfrm>
        </p:spPr>
        <p:txBody>
          <a:bodyPr/>
          <a:p>
            <a:pPr algn="ctr"/>
            <a:r>
              <a:rPr lang="en-US" altLang="en-GB">
                <a:sym typeface="+mn-ea"/>
              </a:rPr>
              <a:t>Pre-processing</a:t>
            </a:r>
            <a:endParaRPr lang="en-US" altLang="en-GB">
              <a:cs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Quy trình</a:t>
            </a:r>
            <a:endParaRPr lang="en-US" altLang="en-GB" sz="4000">
              <a:cs typeface="+mj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3495" y="2281555"/>
            <a:ext cx="7065169" cy="31984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Tokenization</a:t>
            </a:r>
            <a:endParaRPr lang="en-US" altLang="en-GB" sz="4000">
              <a:cs typeface="+mj-lt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38200" y="1567180"/>
            <a:ext cx="4758055" cy="3613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/>
              <a:t>Tokenization là qu</a:t>
            </a:r>
            <a:r>
              <a:rPr lang="en-US" altLang="en-US"/>
              <a:t>á</a:t>
            </a:r>
            <a:r>
              <a:rPr lang="en-US" altLang="en-GB"/>
              <a:t> tr</a:t>
            </a:r>
            <a:r>
              <a:rPr lang="en-US" altLang="en-US"/>
              <a:t>ì</a:t>
            </a:r>
            <a:r>
              <a:rPr lang="en-US" altLang="en-GB"/>
              <a:t>nh chia nhỏ v</a:t>
            </a:r>
            <a:r>
              <a:rPr lang="en-US" altLang="en-US"/>
              <a:t>ă</a:t>
            </a:r>
            <a:r>
              <a:rPr lang="en-US" altLang="en-GB"/>
              <a:t>n bản (text) thành c</a:t>
            </a:r>
            <a:r>
              <a:rPr lang="en-US" altLang="en-US"/>
              <a:t>á</a:t>
            </a:r>
            <a:r>
              <a:rPr lang="en-US" altLang="en-GB"/>
              <a:t>c </a:t>
            </a:r>
            <a:r>
              <a:rPr lang="en-US" altLang="en-US"/>
              <a:t>đ</a:t>
            </a:r>
            <a:r>
              <a:rPr lang="en-US" altLang="en-US"/>
              <a:t>ơ</a:t>
            </a:r>
            <a:r>
              <a:rPr lang="en-US" altLang="en-GB"/>
              <a:t>n vị nhỏ h</a:t>
            </a:r>
            <a:r>
              <a:rPr lang="en-US" altLang="en-US"/>
              <a:t>ơ</a:t>
            </a:r>
            <a:r>
              <a:rPr lang="en-US" altLang="en-GB"/>
              <a:t>n </a:t>
            </a:r>
            <a:r>
              <a:rPr lang="en-US" altLang="en-GB">
                <a:sym typeface="+mn-ea"/>
              </a:rPr>
              <a:t>(từ, cụm từ, ký tự, v.v)</a:t>
            </a:r>
            <a:r>
              <a:rPr lang="en-US" altLang="en-GB"/>
              <a:t> - </a:t>
            </a:r>
            <a:r>
              <a:rPr lang="en-US" altLang="en-GB" b="1"/>
              <a:t>Tokens</a:t>
            </a:r>
            <a:r>
              <a:rPr lang="en-US" altLang="en-GB"/>
              <a:t>.</a:t>
            </a:r>
            <a:endParaRPr lang="en-US" altLang="en-GB"/>
          </a:p>
          <a:p>
            <a:endParaRPr lang="en-US" altLang="en-GB"/>
          </a:p>
          <a:p>
            <a:r>
              <a:rPr lang="en-US" altLang="en-GB" b="1"/>
              <a:t>Vai trò:</a:t>
            </a:r>
            <a:endParaRPr lang="en-US" altLang="en-GB" b="1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GB"/>
              <a:t>Là b</a:t>
            </a:r>
            <a:r>
              <a:rPr lang="en-US" altLang="en-US"/>
              <a:t>ư</a:t>
            </a:r>
            <a:r>
              <a:rPr lang="en-US" altLang="en-GB"/>
              <a:t>ớc </a:t>
            </a:r>
            <a:r>
              <a:rPr lang="en-US" altLang="en-US"/>
              <a:t>đ</a:t>
            </a:r>
            <a:r>
              <a:rPr lang="en-US" altLang="en-GB"/>
              <a:t>ầu ti</a:t>
            </a:r>
            <a:r>
              <a:rPr lang="en-US" altLang="en-US"/>
              <a:t>ê</a:t>
            </a:r>
            <a:r>
              <a:rPr lang="en-US" altLang="en-GB"/>
              <a:t>n bắt buộc trong mọi bài to</a:t>
            </a:r>
            <a:r>
              <a:rPr lang="en-US" altLang="en-US"/>
              <a:t>á</a:t>
            </a:r>
            <a:r>
              <a:rPr lang="en-US" altLang="en-GB"/>
              <a:t>n xử l</a:t>
            </a:r>
            <a:r>
              <a:rPr lang="en-US" altLang="en-US"/>
              <a:t>ý</a:t>
            </a:r>
            <a:r>
              <a:rPr lang="en-US" altLang="en-GB"/>
              <a:t> ngôn ngữ (NLP).</a:t>
            </a:r>
            <a:endParaRPr lang="en-US" altLang="en-GB"/>
          </a:p>
          <a:p>
            <a:pPr indent="0">
              <a:buFont typeface="Wingdings" panose="05000000000000000000" charset="0"/>
              <a:buNone/>
            </a:pPr>
            <a:endParaRPr lang="en-US" altLang="en-GB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GB"/>
              <a:t>Gi</a:t>
            </a:r>
            <a:r>
              <a:rPr lang="en-US" altLang="en-US"/>
              <a:t>ú</a:t>
            </a:r>
            <a:r>
              <a:rPr lang="en-US" altLang="en-GB"/>
              <a:t>p m</a:t>
            </a:r>
            <a:r>
              <a:rPr lang="en-US" altLang="en-US"/>
              <a:t>á</a:t>
            </a:r>
            <a:r>
              <a:rPr lang="en-US" altLang="en-GB"/>
              <a:t>y t</a:t>
            </a:r>
            <a:r>
              <a:rPr lang="en-US" altLang="en-US"/>
              <a:t>í</a:t>
            </a:r>
            <a:r>
              <a:rPr lang="en-US" altLang="en-GB"/>
              <a:t>nh hiểu </a:t>
            </a:r>
            <a:r>
              <a:rPr lang="en-US" altLang="en-US"/>
              <a:t>đư</a:t>
            </a:r>
            <a:r>
              <a:rPr lang="en-US" altLang="en-GB"/>
              <a:t>ợc cấu tr</a:t>
            </a:r>
            <a:r>
              <a:rPr lang="en-US" altLang="en-US"/>
              <a:t>ú</a:t>
            </a:r>
            <a:r>
              <a:rPr lang="en-US" altLang="en-GB"/>
              <a:t>c c</a:t>
            </a:r>
            <a:r>
              <a:rPr lang="en-US" altLang="en-US"/>
              <a:t>â</a:t>
            </a:r>
            <a:r>
              <a:rPr lang="en-US" altLang="en-GB"/>
              <a:t>u.</a:t>
            </a:r>
            <a:endParaRPr lang="en-US" altLang="en-GB"/>
          </a:p>
          <a:p>
            <a:pPr indent="0">
              <a:buFont typeface="Wingdings" panose="05000000000000000000" charset="0"/>
              <a:buNone/>
            </a:pPr>
            <a:endParaRPr lang="en-US" altLang="en-GB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GB"/>
              <a:t>Biến </a:t>
            </a:r>
            <a:r>
              <a:rPr lang="en-US" altLang="en-US"/>
              <a:t>đ</a:t>
            </a:r>
            <a:r>
              <a:rPr lang="en-US" altLang="en-GB"/>
              <a:t>ổi dữ liệu v</a:t>
            </a:r>
            <a:r>
              <a:rPr lang="en-US" altLang="en-US"/>
              <a:t>ă</a:t>
            </a:r>
            <a:r>
              <a:rPr lang="en-US" altLang="en-GB"/>
              <a:t>n bản thô thành dạng cấu tr</a:t>
            </a:r>
            <a:r>
              <a:rPr lang="en-US" altLang="en-US"/>
              <a:t>ú</a:t>
            </a:r>
            <a:r>
              <a:rPr lang="en-US" altLang="en-GB"/>
              <a:t>c </a:t>
            </a:r>
            <a:r>
              <a:rPr lang="en-US" altLang="en-US"/>
              <a:t>đ</a:t>
            </a:r>
            <a:r>
              <a:rPr lang="en-US" altLang="en-GB"/>
              <a:t>ể chuyển sang số (Vector).</a:t>
            </a:r>
            <a:endParaRPr lang="en-US" alt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525" y="1567180"/>
            <a:ext cx="6117590" cy="3614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Stopwords</a:t>
            </a:r>
            <a:endParaRPr lang="en-US" altLang="en-GB" sz="4000">
              <a:cs typeface="+mj-lt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38200" y="1691005"/>
            <a:ext cx="10516235" cy="411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/>
              <a:t>Stopwords (từ dừng) là những từ xuất hiện với tần suất rất cao (</a:t>
            </a:r>
            <a:r>
              <a:rPr lang="en-US" altLang="en-GB">
                <a:sym typeface="+mn-ea"/>
              </a:rPr>
              <a:t>"là", "của", "những", "c</a:t>
            </a:r>
            <a:r>
              <a:rPr lang="en-US" altLang="en-US">
                <a:sym typeface="+mn-ea"/>
              </a:rPr>
              <a:t>á</a:t>
            </a:r>
            <a:r>
              <a:rPr lang="en-US" altLang="en-GB">
                <a:sym typeface="+mn-ea"/>
              </a:rPr>
              <a:t>i", "th</a:t>
            </a:r>
            <a:r>
              <a:rPr lang="en-US" altLang="en-US">
                <a:sym typeface="+mn-ea"/>
              </a:rPr>
              <a:t>ì</a:t>
            </a:r>
            <a:r>
              <a:rPr lang="en-US" altLang="en-GB">
                <a:sym typeface="+mn-ea"/>
              </a:rPr>
              <a:t>", "mà", "bởi", "v</a:t>
            </a:r>
            <a:r>
              <a:rPr lang="en-US" altLang="en-US">
                <a:sym typeface="+mn-ea"/>
              </a:rPr>
              <a:t>ì</a:t>
            </a:r>
            <a:r>
              <a:rPr lang="en-US" altLang="en-GB">
                <a:sym typeface="+mn-ea"/>
              </a:rPr>
              <a:t>", v.v)</a:t>
            </a:r>
            <a:r>
              <a:rPr lang="en-US" altLang="en-GB"/>
              <a:t> trong ngôn ngữ tự nhi</a:t>
            </a:r>
            <a:r>
              <a:rPr lang="en-US" altLang="en-US"/>
              <a:t>ê</a:t>
            </a:r>
            <a:r>
              <a:rPr lang="en-US" altLang="en-GB"/>
              <a:t>n nh</a:t>
            </a:r>
            <a:r>
              <a:rPr lang="en-US" altLang="en-US"/>
              <a:t>ư</a:t>
            </a:r>
            <a:r>
              <a:rPr lang="en-US" altLang="en-GB"/>
              <a:t>ng mang rất </a:t>
            </a:r>
            <a:r>
              <a:rPr lang="en-US" altLang="en-US"/>
              <a:t>í</a:t>
            </a:r>
            <a:r>
              <a:rPr lang="en-US" altLang="en-GB"/>
              <a:t>t </a:t>
            </a:r>
            <a:r>
              <a:rPr lang="en-US" altLang="en-US"/>
              <a:t>ý</a:t>
            </a:r>
            <a:r>
              <a:rPr lang="en-US" altLang="en-GB"/>
              <a:t> ngh</a:t>
            </a:r>
            <a:r>
              <a:rPr lang="en-US" altLang="en-US"/>
              <a:t>ĩ</a:t>
            </a:r>
            <a:r>
              <a:rPr lang="en-US" altLang="en-GB"/>
              <a:t>a thực tế </a:t>
            </a:r>
            <a:r>
              <a:rPr lang="en-US" altLang="en-US"/>
              <a:t>đ</a:t>
            </a:r>
            <a:r>
              <a:rPr lang="en-US" altLang="en-GB"/>
              <a:t>ể ph</a:t>
            </a:r>
            <a:r>
              <a:rPr lang="en-US" altLang="en-US"/>
              <a:t>â</a:t>
            </a:r>
            <a:r>
              <a:rPr lang="en-US" altLang="en-GB"/>
              <a:t>n loại hoặc hiểu nội dung ch</a:t>
            </a:r>
            <a:r>
              <a:rPr lang="en-US" altLang="en-US"/>
              <a:t>í</a:t>
            </a:r>
            <a:r>
              <a:rPr lang="en-US" altLang="en-GB"/>
              <a:t>nh của v</a:t>
            </a:r>
            <a:r>
              <a:rPr lang="en-US" altLang="en-US"/>
              <a:t>ă</a:t>
            </a:r>
            <a:r>
              <a:rPr lang="en-US" altLang="en-GB"/>
              <a:t>n bản.</a:t>
            </a:r>
            <a:endParaRPr lang="en-US" altLang="en-GB"/>
          </a:p>
          <a:p>
            <a:endParaRPr lang="en-US" altLang="en-GB"/>
          </a:p>
          <a:p>
            <a:r>
              <a:rPr lang="en-US" altLang="en-GB" b="1"/>
              <a:t>Ví dụ:</a:t>
            </a:r>
            <a:r>
              <a:rPr lang="en-US" altLang="en-GB"/>
              <a:t> "Tôi là sinh vi</a:t>
            </a:r>
            <a:r>
              <a:rPr lang="en-US" altLang="en-US"/>
              <a:t>ê</a:t>
            </a:r>
            <a:r>
              <a:rPr lang="en-US" altLang="en-GB"/>
              <a:t>n của tr</a:t>
            </a:r>
            <a:r>
              <a:rPr lang="en-US" altLang="en-US"/>
              <a:t>ư</a:t>
            </a:r>
            <a:r>
              <a:rPr lang="en-US" altLang="en-GB"/>
              <a:t>ờng </a:t>
            </a:r>
            <a:r>
              <a:rPr lang="en-US" altLang="en-US"/>
              <a:t>Đ</a:t>
            </a:r>
            <a:r>
              <a:rPr lang="en-US" altLang="en-GB"/>
              <a:t>ại học B</a:t>
            </a:r>
            <a:r>
              <a:rPr lang="en-US" altLang="en-US"/>
              <a:t>á</a:t>
            </a:r>
            <a:r>
              <a:rPr lang="en-US" altLang="en-GB"/>
              <a:t>ch Khoa" 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altLang="en-GB"/>
              <a:t> "Tôi sinh vi</a:t>
            </a:r>
            <a:r>
              <a:rPr lang="en-US" altLang="en-US"/>
              <a:t>ê</a:t>
            </a:r>
            <a:r>
              <a:rPr lang="en-US" altLang="en-GB"/>
              <a:t>n tr</a:t>
            </a:r>
            <a:r>
              <a:rPr lang="en-US" altLang="en-US"/>
              <a:t>ư</a:t>
            </a:r>
            <a:r>
              <a:rPr lang="en-US" altLang="en-GB"/>
              <a:t>ờng </a:t>
            </a:r>
            <a:r>
              <a:rPr lang="en-US" altLang="en-US"/>
              <a:t>Đ</a:t>
            </a:r>
            <a:r>
              <a:rPr lang="en-US" altLang="en-GB"/>
              <a:t>ại học B</a:t>
            </a:r>
            <a:r>
              <a:rPr lang="en-US" altLang="en-US"/>
              <a:t>á</a:t>
            </a:r>
            <a:r>
              <a:rPr lang="en-US" altLang="en-GB"/>
              <a:t>ch Khoa"</a:t>
            </a:r>
            <a:endParaRPr lang="en-US" altLang="en-GB"/>
          </a:p>
          <a:p>
            <a:pPr indent="0">
              <a:buFont typeface="Wingdings" panose="05000000000000000000" charset="0"/>
              <a:buNone/>
            </a:pPr>
            <a:endParaRPr lang="en-US" altLang="en-GB"/>
          </a:p>
          <a:p>
            <a:r>
              <a:rPr lang="en-US" altLang="en-GB" b="1"/>
              <a:t>Vai trò:</a:t>
            </a:r>
            <a:endParaRPr lang="en-US" altLang="en-GB" b="1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GB"/>
              <a:t> Giảm chiều dữ liệu (Dimensionality Reduction): Stopwords th</a:t>
            </a:r>
            <a:r>
              <a:rPr lang="en-US" altLang="en-US"/>
              <a:t>ư</a:t>
            </a:r>
            <a:r>
              <a:rPr lang="en-US" altLang="en-GB"/>
              <a:t>ờng chiếm 20-30% tổng số từ trong một v</a:t>
            </a:r>
            <a:r>
              <a:rPr lang="en-US" altLang="en-US"/>
              <a:t>ă</a:t>
            </a:r>
            <a:r>
              <a:rPr lang="en-US" altLang="en-GB"/>
              <a:t>n bản. Loại bỏ ch</a:t>
            </a:r>
            <a:r>
              <a:rPr lang="en-US" altLang="en-US"/>
              <a:t>ú</a:t>
            </a:r>
            <a:r>
              <a:rPr lang="en-US" altLang="en-GB"/>
              <a:t>ng gi</a:t>
            </a:r>
            <a:r>
              <a:rPr lang="en-US" altLang="en-US"/>
              <a:t>ú</a:t>
            </a:r>
            <a:r>
              <a:rPr lang="en-US" altLang="en-GB"/>
              <a:t>p giảm k</a:t>
            </a:r>
            <a:r>
              <a:rPr lang="en-US" altLang="en-US"/>
              <a:t>í</a:t>
            </a:r>
            <a:r>
              <a:rPr lang="en-US" altLang="en-GB"/>
              <a:t>ch th</a:t>
            </a:r>
            <a:r>
              <a:rPr lang="en-US" altLang="en-US"/>
              <a:t>ư</a:t>
            </a:r>
            <a:r>
              <a:rPr lang="en-US" altLang="en-GB"/>
              <a:t>ớc bộ dữ liệu </a:t>
            </a:r>
            <a:r>
              <a:rPr lang="en-US" altLang="en-US"/>
              <a:t>đ</a:t>
            </a:r>
            <a:r>
              <a:rPr lang="en-US" altLang="en-US"/>
              <a:t>á</a:t>
            </a:r>
            <a:r>
              <a:rPr lang="en-US" altLang="en-GB"/>
              <a:t>ng kể.</a:t>
            </a:r>
            <a:endParaRPr lang="en-US" altLang="en-GB"/>
          </a:p>
          <a:p>
            <a:pPr indent="0">
              <a:buFont typeface="Wingdings" panose="05000000000000000000" charset="0"/>
              <a:buNone/>
            </a:pPr>
            <a:endParaRPr lang="en-US" altLang="en-GB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GB"/>
              <a:t>Tối </a:t>
            </a:r>
            <a:r>
              <a:rPr lang="en-US" altLang="en-US"/>
              <a:t>ư</a:t>
            </a:r>
            <a:r>
              <a:rPr lang="en-US" altLang="en-GB"/>
              <a:t>u hiệu suất t</a:t>
            </a:r>
            <a:r>
              <a:rPr lang="en-US" altLang="en-US"/>
              <a:t>í</a:t>
            </a:r>
            <a:r>
              <a:rPr lang="en-US" altLang="en-GB"/>
              <a:t>nh to</a:t>
            </a:r>
            <a:r>
              <a:rPr lang="en-US" altLang="en-US"/>
              <a:t>á</a:t>
            </a:r>
            <a:r>
              <a:rPr lang="en-US" altLang="en-GB"/>
              <a:t>n: </a:t>
            </a:r>
            <a:r>
              <a:rPr lang="en-US" altLang="en-US"/>
              <a:t>Í</a:t>
            </a:r>
            <a:r>
              <a:rPr lang="en-US" altLang="en-GB"/>
              <a:t>t từ h</a:t>
            </a:r>
            <a:r>
              <a:rPr lang="en-US" altLang="en-US"/>
              <a:t>ơ</a:t>
            </a:r>
            <a:r>
              <a:rPr lang="en-US" altLang="en-GB"/>
              <a:t>n ngh</a:t>
            </a:r>
            <a:r>
              <a:rPr lang="en-US" altLang="en-US"/>
              <a:t>ĩ</a:t>
            </a:r>
            <a:r>
              <a:rPr lang="en-US" altLang="en-GB"/>
              <a:t>a là m</a:t>
            </a:r>
            <a:r>
              <a:rPr lang="en-US" altLang="en-US"/>
              <a:t>á</a:t>
            </a:r>
            <a:r>
              <a:rPr lang="en-US" altLang="en-GB"/>
              <a:t>y t</a:t>
            </a:r>
            <a:r>
              <a:rPr lang="en-US" altLang="en-US"/>
              <a:t>í</a:t>
            </a:r>
            <a:r>
              <a:rPr lang="en-US" altLang="en-GB"/>
              <a:t>nh xử l</a:t>
            </a:r>
            <a:r>
              <a:rPr lang="en-US" altLang="en-US"/>
              <a:t>ý</a:t>
            </a:r>
            <a:r>
              <a:rPr lang="en-US" altLang="en-GB"/>
              <a:t> nhanh h</a:t>
            </a:r>
            <a:r>
              <a:rPr lang="en-US" altLang="en-US"/>
              <a:t>ơ</a:t>
            </a:r>
            <a:r>
              <a:rPr lang="en-US" altLang="en-GB"/>
              <a:t>n, tốn </a:t>
            </a:r>
            <a:r>
              <a:rPr lang="en-US" altLang="en-US"/>
              <a:t>í</a:t>
            </a:r>
            <a:r>
              <a:rPr lang="en-US" altLang="en-GB"/>
              <a:t>t RAM và tài nguy</a:t>
            </a:r>
            <a:r>
              <a:rPr lang="en-US" altLang="en-US"/>
              <a:t>ê</a:t>
            </a:r>
            <a:r>
              <a:rPr lang="en-US" altLang="en-GB"/>
              <a:t>n CPU h</a:t>
            </a:r>
            <a:r>
              <a:rPr lang="en-US" altLang="en-US"/>
              <a:t>ơ</a:t>
            </a:r>
            <a:r>
              <a:rPr lang="en-US" altLang="en-GB"/>
              <a:t>n.</a:t>
            </a:r>
            <a:endParaRPr lang="en-US" altLang="en-GB"/>
          </a:p>
          <a:p>
            <a:pPr indent="0">
              <a:buFont typeface="Wingdings" panose="05000000000000000000" charset="0"/>
              <a:buNone/>
            </a:pPr>
            <a:endParaRPr lang="en-US" altLang="en-GB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GB"/>
              <a:t>Loại bỏ nhiễu (Noise Removal): Gi</a:t>
            </a:r>
            <a:r>
              <a:rPr lang="en-US" altLang="en-US"/>
              <a:t>ú</a:t>
            </a:r>
            <a:r>
              <a:rPr lang="en-US" altLang="en-GB"/>
              <a:t>p c</a:t>
            </a:r>
            <a:r>
              <a:rPr lang="en-US" altLang="en-US"/>
              <a:t>á</a:t>
            </a:r>
            <a:r>
              <a:rPr lang="en-US" altLang="en-GB"/>
              <a:t>c thuật to</a:t>
            </a:r>
            <a:r>
              <a:rPr lang="en-US" altLang="en-US"/>
              <a:t>á</a:t>
            </a:r>
            <a:r>
              <a:rPr lang="en-US" altLang="en-GB"/>
              <a:t>n (nh</a:t>
            </a:r>
            <a:r>
              <a:rPr lang="en-US" altLang="en-US"/>
              <a:t>ư</a:t>
            </a:r>
            <a:r>
              <a:rPr lang="en-US" altLang="en-GB"/>
              <a:t> TF-IDF) tập trung vào c</a:t>
            </a:r>
            <a:r>
              <a:rPr lang="en-US" altLang="en-US"/>
              <a:t>á</a:t>
            </a:r>
            <a:r>
              <a:rPr lang="en-US" altLang="en-GB"/>
              <a:t>c keywords mang </a:t>
            </a:r>
            <a:r>
              <a:rPr lang="en-US" altLang="en-US"/>
              <a:t>ý</a:t>
            </a:r>
            <a:r>
              <a:rPr lang="en-US" altLang="en-GB"/>
              <a:t> ngh</a:t>
            </a:r>
            <a:r>
              <a:rPr lang="en-US" altLang="en-US"/>
              <a:t>ĩ</a:t>
            </a:r>
            <a:r>
              <a:rPr lang="en-US" altLang="en-GB"/>
              <a:t>a </a:t>
            </a:r>
            <a:r>
              <a:rPr lang="en-US" altLang="en-US"/>
              <a:t>đ</a:t>
            </a:r>
            <a:r>
              <a:rPr lang="en-US" altLang="en-GB"/>
              <a:t>ặc tr</a:t>
            </a:r>
            <a:r>
              <a:rPr lang="en-US" altLang="en-US"/>
              <a:t>ư</a:t>
            </a:r>
            <a:r>
              <a:rPr lang="en-US" altLang="en-GB"/>
              <a:t>ng, tr</a:t>
            </a:r>
            <a:r>
              <a:rPr lang="en-US" altLang="en-US"/>
              <a:t>á</a:t>
            </a:r>
            <a:r>
              <a:rPr lang="en-US" altLang="en-GB"/>
              <a:t>nh bị "lo</a:t>
            </a:r>
            <a:r>
              <a:rPr lang="en-US" altLang="en-US"/>
              <a:t>ã</a:t>
            </a:r>
            <a:r>
              <a:rPr lang="en-US" altLang="en-GB"/>
              <a:t>ng" bởi c</a:t>
            </a:r>
            <a:r>
              <a:rPr lang="en-US" altLang="en-US"/>
              <a:t>á</a:t>
            </a:r>
            <a:r>
              <a:rPr lang="en-US" altLang="en-GB"/>
              <a:t>c từ phổ thông.</a:t>
            </a:r>
            <a:endParaRPr lang="en-US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210" y="3750310"/>
            <a:ext cx="10356238" cy="27870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575" y="353060"/>
            <a:ext cx="10356037" cy="27870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Vectorization</a:t>
            </a:r>
            <a:endParaRPr lang="en-US" altLang="en-GB" sz="4000">
              <a:cs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39825" y="2136140"/>
            <a:ext cx="9912770" cy="35818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TF-IDF</a:t>
            </a:r>
            <a:endParaRPr lang="en-US" altLang="en-GB" sz="4000">
              <a:cs typeface="+mj-lt"/>
            </a:endParaRPr>
          </a:p>
        </p:txBody>
      </p:sp>
      <p:grpSp>
        <p:nvGrpSpPr>
          <p:cNvPr id="15" name="Group 14"/>
          <p:cNvGrpSpPr/>
          <p:nvPr/>
        </p:nvGrpSpPr>
        <p:grpSpPr>
          <a:xfrm rot="0">
            <a:off x="838200" y="2520950"/>
            <a:ext cx="4199890" cy="2631440"/>
            <a:chOff x="1320" y="3142"/>
            <a:chExt cx="6614" cy="414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Text Box 3"/>
                <p:cNvSpPr txBox="1"/>
                <p:nvPr/>
              </p:nvSpPr>
              <p:spPr>
                <a:xfrm>
                  <a:off x="1320" y="6266"/>
                  <a:ext cx="4876" cy="102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lgDash"/>
                </a:ln>
              </p:spPr>
              <p:txBody>
                <a:bodyPr wrap="none" rtlCol="0" anchor="ctr" anchorCtr="0">
                  <a:no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𝐼𝐷𝐹</m:t>
                        </m:r>
                        <m:d>
                          <m:dPr>
                            <m:ctrlP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,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𝐷</m:t>
                            </m:r>
                          </m:e>
                        </m:d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altLang="en-GB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en-GB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en-GB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en-GB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en-GB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1</m:t>
                                    </m:r>
                                    <m:r>
                                      <a:rPr lang="en-US" altLang="en-GB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+</m:t>
                                    </m:r>
                                    <m:r>
                                      <a:rPr lang="en-US" altLang="en-GB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𝑁</m:t>
                                    </m:r>
                                  </m:num>
                                  <m:den>
                                    <m:r>
                                      <a:rPr lang="en-US" altLang="en-GB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1</m:t>
                                    </m:r>
                                    <m:r>
                                      <a:rPr lang="en-US" altLang="en-GB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en-GB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en-GB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en-GB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oMath>
                    </m:oMathPara>
                  </a14:m>
                  <a:endParaRPr lang="en-US" altLang="en-GB" i="1"/>
                </a:p>
              </p:txBody>
            </p:sp>
          </mc:Choice>
          <mc:Fallback>
            <p:sp>
              <p:nvSpPr>
                <p:cNvPr id="4" name="Text Box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0" y="6266"/>
                  <a:ext cx="4876" cy="1020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solidFill>
                    <a:schemeClr val="tx1"/>
                  </a:solidFill>
                  <a:prstDash val="lgDash"/>
                </a:ln>
              </p:spPr>
              <p:txBody>
                <a:bodyPr/>
                <a:lstStyle/>
                <a:p>
                  <a:r>
                    <a:rPr lang="en-GB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Text Box 2"/>
                <p:cNvSpPr txBox="1"/>
                <p:nvPr/>
              </p:nvSpPr>
              <p:spPr>
                <a:xfrm>
                  <a:off x="1320" y="4646"/>
                  <a:ext cx="4031" cy="102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lgDash"/>
                </a:ln>
              </p:spPr>
              <p:txBody>
                <a:bodyPr wrap="none" rtlCol="0" anchor="ctr" anchorCtr="0">
                  <a:no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𝑇𝐹</m:t>
                        </m:r>
                        <m:d>
                          <m:dPr>
                            <m:ctrlP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,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𝑑</m:t>
                            </m:r>
                          </m:e>
                        </m:d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en-GB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en-GB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GB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en-GB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𝑡</m:t>
                                </m:r>
                                <m:r>
                                  <a:rPr lang="en-US" altLang="en-GB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lang="en-US" altLang="en-GB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𝑑</m:t>
                                </m:r>
                              </m:sub>
                            </m:sSub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supHide m:val="on"/>
                                <m:ctrlPr>
                                  <a:rPr lang="en-US" altLang="en-GB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en-GB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𝑘</m:t>
                                </m:r>
                                <m:r>
                                  <a:rPr lang="en-US" altLang="en-GB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∈</m:t>
                                </m:r>
                                <m:r>
                                  <a:rPr lang="en-US" altLang="en-GB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𝑑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altLang="en-GB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GB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en-GB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𝑘</m:t>
                                    </m:r>
                                    <m:r>
                                      <a:rPr lang="en-US" altLang="en-GB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,</m:t>
                                    </m:r>
                                    <m:r>
                                      <a:rPr lang="en-US" altLang="en-GB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𝑑</m:t>
                                    </m:r>
                                  </m:sub>
                                </m:sSub>
                              </m:e>
                            </m:nary>
                          </m:den>
                        </m:f>
                      </m:oMath>
                    </m:oMathPara>
                  </a14:m>
                  <a:endParaRPr lang="en-US" altLang="en-GB"/>
                </a:p>
              </p:txBody>
            </p:sp>
          </mc:Choice>
          <mc:Fallback>
            <p:sp>
              <p:nvSpPr>
                <p:cNvPr id="3" name="Text 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0" y="4646"/>
                  <a:ext cx="4031" cy="1020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solidFill>
                    <a:schemeClr val="tx1"/>
                  </a:solidFill>
                  <a:prstDash val="lgDash"/>
                </a:ln>
              </p:spPr>
              <p:txBody>
                <a:bodyPr/>
                <a:lstStyle/>
                <a:p>
                  <a:r>
                    <a:rPr lang="en-GB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 Box 5"/>
                <p:cNvSpPr txBox="1"/>
                <p:nvPr/>
              </p:nvSpPr>
              <p:spPr>
                <a:xfrm>
                  <a:off x="1320" y="3142"/>
                  <a:ext cx="6614" cy="781"/>
                </a:xfrm>
                <a:prstGeom prst="rect">
                  <a:avLst/>
                </a:prstGeom>
                <a:noFill/>
                <a:ln w="12700" cap="flat">
                  <a:solidFill>
                    <a:schemeClr val="tx1"/>
                  </a:solidFill>
                  <a:prstDash val="solid"/>
                </a:ln>
                <a:effectLst/>
              </p:spPr>
              <p:txBody>
                <a:bodyPr wrap="none" rtlCol="0" anchor="ctr" anchorCtr="0">
                  <a:no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𝑇𝐹</m:t>
                        </m:r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𝐼𝐷𝐹</m:t>
                        </m:r>
                        <m:d>
                          <m:dPr>
                            <m:ctrlP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,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𝑑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, 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𝐷</m:t>
                            </m:r>
                          </m:e>
                        </m:d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𝑇𝐹</m:t>
                        </m:r>
                        <m:d>
                          <m:dPr>
                            <m:ctrlP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,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𝑑</m:t>
                            </m:r>
                          </m:e>
                        </m:d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×</m:t>
                        </m:r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𝐼𝐷𝐹</m:t>
                        </m:r>
                        <m:d>
                          <m:dPr>
                            <m:ctrlP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,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𝐷</m:t>
                            </m:r>
                          </m:e>
                        </m:d>
                      </m:oMath>
                    </m:oMathPara>
                  </a14:m>
                  <a:endParaRPr lang="en-US" altLang="en-GB" i="1"/>
                </a:p>
              </p:txBody>
            </p:sp>
          </mc:Choice>
          <mc:Fallback>
            <p:sp>
              <p:nvSpPr>
                <p:cNvPr id="6" name="Text 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0" y="3142"/>
                  <a:ext cx="6614" cy="781"/>
                </a:xfrm>
                <a:prstGeom prst="rect">
                  <a:avLst/>
                </a:prstGeom>
                <a:blipFill rotWithShape="1">
                  <a:blip r:embed="rId3"/>
                </a:blipFill>
                <a:ln w="12700" cap="flat">
                  <a:solidFill>
                    <a:schemeClr val="tx1"/>
                  </a:solidFill>
                  <a:prstDash val="solid"/>
                </a:ln>
                <a:effectLst/>
              </p:spPr>
              <p:txBody>
                <a:bodyPr/>
                <a:lstStyle/>
                <a:p>
                  <a:r>
                    <a:rPr lang="en-GB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Curved Connector 11"/>
            <p:cNvCxnSpPr>
              <a:stCxn id="6" idx="1"/>
              <a:endCxn id="3" idx="1"/>
            </p:cNvCxnSpPr>
            <p:nvPr/>
          </p:nvCxnSpPr>
          <p:spPr>
            <a:xfrm rot="10800000" flipH="1" flipV="1">
              <a:off x="1320" y="3533"/>
              <a:ext cx="5" cy="1623"/>
            </a:xfrm>
            <a:prstGeom prst="curvedConnector3">
              <a:avLst>
                <a:gd name="adj1" fmla="val -7500000"/>
              </a:avLst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" name="Curved Connector 12"/>
            <p:cNvCxnSpPr>
              <a:stCxn id="6" idx="1"/>
              <a:endCxn id="4" idx="1"/>
            </p:cNvCxnSpPr>
            <p:nvPr/>
          </p:nvCxnSpPr>
          <p:spPr>
            <a:xfrm rot="10800000" flipH="1" flipV="1">
              <a:off x="1320" y="3533"/>
              <a:ext cx="5" cy="3243"/>
            </a:xfrm>
            <a:prstGeom prst="curvedConnector3">
              <a:avLst>
                <a:gd name="adj1" fmla="val -7500000"/>
              </a:avLst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167255"/>
            <a:ext cx="5981065" cy="32651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2766060"/>
            <a:ext cx="10515600" cy="1325563"/>
          </a:xfrm>
        </p:spPr>
        <p:txBody>
          <a:bodyPr/>
          <a:p>
            <a:pPr algn="ctr"/>
            <a:r>
              <a:rPr lang="en-US" altLang="en-GB">
                <a:sym typeface="+mn-ea"/>
              </a:rPr>
              <a:t>Model</a:t>
            </a:r>
            <a:endParaRPr lang="en-US" altLang="en-GB">
              <a:cs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Logistic Regression</a:t>
            </a:r>
            <a:endParaRPr lang="en-US" altLang="en-GB" sz="4000">
              <a:cs typeface="+mj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l="2699" r="5145"/>
          <a:stretch>
            <a:fillRect/>
          </a:stretch>
        </p:blipFill>
        <p:spPr>
          <a:xfrm>
            <a:off x="3212465" y="3073400"/>
            <a:ext cx="5767070" cy="340296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838200" y="1591310"/>
            <a:ext cx="10514965" cy="1318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/>
              <a:t>Hồi quy Logistic là một mô h</a:t>
            </a:r>
            <a:r>
              <a:rPr lang="en-US" altLang="en-US"/>
              <a:t>ì</a:t>
            </a:r>
            <a:r>
              <a:rPr lang="en-US" altLang="en-GB"/>
              <a:t>nh tuyến t</a:t>
            </a:r>
            <a:r>
              <a:rPr lang="en-US" altLang="en-US"/>
              <a:t>í</a:t>
            </a:r>
            <a:r>
              <a:rPr lang="en-US" altLang="en-GB"/>
              <a:t>nh </a:t>
            </a:r>
            <a:r>
              <a:rPr lang="en-US" altLang="en-US"/>
              <a:t>đư</a:t>
            </a:r>
            <a:r>
              <a:rPr lang="en-US" altLang="en-GB"/>
              <a:t>ợc sử dụng cho c</a:t>
            </a:r>
            <a:r>
              <a:rPr lang="en-US" altLang="en-US"/>
              <a:t>á</a:t>
            </a:r>
            <a:r>
              <a:rPr lang="en-US" altLang="en-GB"/>
              <a:t>c nhiệm vụ ph</a:t>
            </a:r>
            <a:r>
              <a:rPr lang="en-US" altLang="en-US"/>
              <a:t>â</a:t>
            </a:r>
            <a:r>
              <a:rPr lang="en-US" altLang="en-GB"/>
              <a:t>n loại, dự </a:t>
            </a:r>
            <a:r>
              <a:rPr lang="en-US" altLang="en-US"/>
              <a:t>đ</a:t>
            </a:r>
            <a:r>
              <a:rPr lang="en-US" altLang="en-GB"/>
              <a:t>o</a:t>
            </a:r>
            <a:r>
              <a:rPr lang="en-US" altLang="en-US"/>
              <a:t>á</a:t>
            </a:r>
            <a:r>
              <a:rPr lang="en-US" altLang="en-GB"/>
              <a:t>n x</a:t>
            </a:r>
            <a:r>
              <a:rPr lang="en-US" altLang="en-US"/>
              <a:t>á</a:t>
            </a:r>
            <a:r>
              <a:rPr lang="en-US" altLang="en-GB"/>
              <a:t>c suất một </a:t>
            </a:r>
            <a:r>
              <a:rPr lang="en-US" altLang="en-US"/>
              <a:t>đ</a:t>
            </a:r>
            <a:r>
              <a:rPr lang="en-US" altLang="en-GB"/>
              <a:t>ầu vào thuộc về một trong số c</a:t>
            </a:r>
            <a:r>
              <a:rPr lang="en-US" altLang="en-US"/>
              <a:t>á</a:t>
            </a:r>
            <a:r>
              <a:rPr lang="en-US" altLang="en-GB"/>
              <a:t>c lớp.</a:t>
            </a:r>
            <a:endParaRPr lang="en-US" altLang="en-GB"/>
          </a:p>
          <a:p>
            <a:endParaRPr lang="en-US" altLang="en-GB"/>
          </a:p>
          <a:p>
            <a:r>
              <a:rPr lang="en-US" altLang="en-GB" b="1"/>
              <a:t>Ý tưởng: </a:t>
            </a:r>
            <a:r>
              <a:rPr lang="en-US" altLang="en-GB"/>
              <a:t>Nén giá trị đầu ra tuyến tính vào khoảng giá trị đại diện cho xác suất (0 và 1).</a:t>
            </a:r>
            <a:endParaRPr lang="en-US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Naive Bayes</a:t>
            </a:r>
            <a:endParaRPr lang="en-US" altLang="en-GB" sz="4000">
              <a:cs typeface="+mj-lt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838200" y="1591310"/>
            <a:ext cx="10514965" cy="1605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/>
              <a:t>Là một thuật to</a:t>
            </a:r>
            <a:r>
              <a:rPr lang="en-US" altLang="en-US"/>
              <a:t>á</a:t>
            </a:r>
            <a:r>
              <a:rPr lang="en-US" altLang="en-GB"/>
              <a:t>n ph</a:t>
            </a:r>
            <a:r>
              <a:rPr lang="en-US" altLang="en-US"/>
              <a:t>â</a:t>
            </a:r>
            <a:r>
              <a:rPr lang="en-US" altLang="en-GB"/>
              <a:t>n loại dựa tr</a:t>
            </a:r>
            <a:r>
              <a:rPr lang="en-US" altLang="en-US"/>
              <a:t>ê</a:t>
            </a:r>
            <a:r>
              <a:rPr lang="en-US" altLang="en-GB"/>
              <a:t>n </a:t>
            </a:r>
            <a:r>
              <a:rPr lang="en-US" altLang="en-US"/>
              <a:t>Đ</a:t>
            </a:r>
            <a:r>
              <a:rPr lang="en-US" altLang="en-GB"/>
              <a:t>ịnh l</a:t>
            </a:r>
            <a:r>
              <a:rPr lang="en-US" altLang="en-US"/>
              <a:t>ý</a:t>
            </a:r>
            <a:r>
              <a:rPr lang="en-US" altLang="en-GB"/>
              <a:t> Bayes trong x</a:t>
            </a:r>
            <a:r>
              <a:rPr lang="en-US" altLang="en-US"/>
              <a:t>á</a:t>
            </a:r>
            <a:r>
              <a:rPr lang="en-US" altLang="en-GB"/>
              <a:t>c suất thống k</a:t>
            </a:r>
            <a:r>
              <a:rPr lang="en-US" altLang="en-US"/>
              <a:t>ê</a:t>
            </a:r>
            <a:r>
              <a:rPr lang="en-US" altLang="en-GB"/>
              <a:t>. N</a:t>
            </a:r>
            <a:r>
              <a:rPr lang="en-US" altLang="en-US"/>
              <a:t>ó</a:t>
            </a:r>
            <a:r>
              <a:rPr lang="en-US" altLang="en-GB"/>
              <a:t> cực kỳ nhanh và hiệu quả cho c</a:t>
            </a:r>
            <a:r>
              <a:rPr lang="en-US" altLang="en-US"/>
              <a:t>á</a:t>
            </a:r>
            <a:r>
              <a:rPr lang="en-US" altLang="en-GB"/>
              <a:t>c bài to</a:t>
            </a:r>
            <a:r>
              <a:rPr lang="en-US" altLang="en-US"/>
              <a:t>á</a:t>
            </a:r>
            <a:r>
              <a:rPr lang="en-US" altLang="en-GB"/>
              <a:t>n ph</a:t>
            </a:r>
            <a:r>
              <a:rPr lang="en-US" altLang="en-US"/>
              <a:t>â</a:t>
            </a:r>
            <a:r>
              <a:rPr lang="en-US" altLang="en-GB"/>
              <a:t>n loại v</a:t>
            </a:r>
            <a:r>
              <a:rPr lang="en-US" altLang="en-US"/>
              <a:t>ă</a:t>
            </a:r>
            <a:r>
              <a:rPr lang="en-US" altLang="en-GB"/>
              <a:t>n bản.</a:t>
            </a:r>
            <a:endParaRPr lang="en-US" altLang="en-GB"/>
          </a:p>
          <a:p>
            <a:endParaRPr lang="en-US" altLang="en-GB"/>
          </a:p>
          <a:p>
            <a:r>
              <a:rPr lang="en-US" altLang="en-GB" b="1"/>
              <a:t>Ý tưởng:</a:t>
            </a:r>
            <a:r>
              <a:rPr lang="en-US" altLang="en-GB"/>
              <a:t> Thuật toán giả định rằng các đặc trưng đều độc lập với nhau (Naive) 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altLang="en-GB">
                <a:cs typeface="+mn-lt"/>
              </a:rPr>
              <a:t>Đơn giản hóa tính toán nhưng độ chính xác vẫn cao trong nhiều trường hợp.</a:t>
            </a:r>
            <a:endParaRPr lang="en-US" altLang="en-GB">
              <a:cs typeface="+mn-lt"/>
            </a:endParaRPr>
          </a:p>
        </p:txBody>
      </p:sp>
      <p:pic>
        <p:nvPicPr>
          <p:cNvPr id="3" name="Picture 2"/>
          <p:cNvPicPr/>
          <p:nvPr/>
        </p:nvPicPr>
        <p:blipFill>
          <a:blip r:embed="rId1"/>
          <a:srcRect t="29960" b="7907"/>
          <a:stretch>
            <a:fillRect/>
          </a:stretch>
        </p:blipFill>
        <p:spPr>
          <a:xfrm>
            <a:off x="2286000" y="3687445"/>
            <a:ext cx="7620000" cy="2959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258435" cy="1062990"/>
          </a:xfrm>
        </p:spPr>
        <p:txBody>
          <a:bodyPr/>
          <a:p>
            <a:r>
              <a:rPr lang="en-US" altLang="en-GB" sz="4000">
                <a:cs typeface="+mj-lt"/>
              </a:rPr>
              <a:t>Support Vector Machine</a:t>
            </a:r>
            <a:endParaRPr lang="en-US" altLang="en-GB" sz="4000">
              <a:cs typeface="+mj-lt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38200" y="1791970"/>
            <a:ext cx="5258435" cy="3274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/>
              <a:t>M</a:t>
            </a:r>
            <a:r>
              <a:rPr lang="en-US" altLang="en-US"/>
              <a:t>á</a:t>
            </a:r>
            <a:r>
              <a:rPr lang="en-US" altLang="en-GB"/>
              <a:t>y hỗ trợ vect</a:t>
            </a:r>
            <a:r>
              <a:rPr lang="en-US" altLang="en-US"/>
              <a:t>ơ</a:t>
            </a:r>
            <a:r>
              <a:rPr lang="en-US" altLang="en-GB"/>
              <a:t> (SVM) là một thuật to</a:t>
            </a:r>
            <a:r>
              <a:rPr lang="en-US" altLang="en-US"/>
              <a:t>á</a:t>
            </a:r>
            <a:r>
              <a:rPr lang="en-US" altLang="en-GB"/>
              <a:t>n học m</a:t>
            </a:r>
            <a:r>
              <a:rPr lang="en-US" altLang="en-US"/>
              <a:t>á</a:t>
            </a:r>
            <a:r>
              <a:rPr lang="en-US" altLang="en-GB"/>
              <a:t>y c</a:t>
            </a:r>
            <a:r>
              <a:rPr lang="en-US" altLang="en-US"/>
              <a:t>ó</a:t>
            </a:r>
            <a:r>
              <a:rPr lang="en-US" altLang="en-GB"/>
              <a:t> gi</a:t>
            </a:r>
            <a:r>
              <a:rPr lang="en-US" altLang="en-US"/>
              <a:t>á</a:t>
            </a:r>
            <a:r>
              <a:rPr lang="en-US" altLang="en-GB"/>
              <a:t>m s</a:t>
            </a:r>
            <a:r>
              <a:rPr lang="en-US" altLang="en-US"/>
              <a:t>á</a:t>
            </a:r>
            <a:r>
              <a:rPr lang="en-US" altLang="en-GB"/>
              <a:t>t </a:t>
            </a:r>
            <a:r>
              <a:rPr lang="en-US" altLang="en-US"/>
              <a:t>đư</a:t>
            </a:r>
            <a:r>
              <a:rPr lang="en-US" altLang="en-GB"/>
              <a:t>ợc sử dụng cho c</a:t>
            </a:r>
            <a:r>
              <a:rPr lang="en-US" altLang="en-US"/>
              <a:t>á</a:t>
            </a:r>
            <a:r>
              <a:rPr lang="en-US" altLang="en-GB"/>
              <a:t>c nhiệm vụ ph</a:t>
            </a:r>
            <a:r>
              <a:rPr lang="en-US" altLang="en-US"/>
              <a:t>â</a:t>
            </a:r>
            <a:r>
              <a:rPr lang="en-US" altLang="en-GB"/>
              <a:t>n loại và hồi quy.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N</a:t>
            </a:r>
            <a:r>
              <a:rPr lang="en-US" altLang="en-US"/>
              <a:t>ó</a:t>
            </a:r>
            <a:r>
              <a:rPr lang="en-US" altLang="en-GB"/>
              <a:t> hoạt </a:t>
            </a:r>
            <a:r>
              <a:rPr lang="en-US" altLang="en-US"/>
              <a:t>đ</a:t>
            </a:r>
            <a:r>
              <a:rPr lang="en-US" altLang="en-GB"/>
              <a:t>ộng bằng c</a:t>
            </a:r>
            <a:r>
              <a:rPr lang="en-US" altLang="en-US"/>
              <a:t>á</a:t>
            </a:r>
            <a:r>
              <a:rPr lang="en-US" altLang="en-GB"/>
              <a:t>ch t</a:t>
            </a:r>
            <a:r>
              <a:rPr lang="en-US" altLang="en-US"/>
              <a:t>ì</a:t>
            </a:r>
            <a:r>
              <a:rPr lang="en-US" altLang="en-GB"/>
              <a:t>m si</a:t>
            </a:r>
            <a:r>
              <a:rPr lang="en-US" altLang="en-US"/>
              <a:t>ê</a:t>
            </a:r>
            <a:r>
              <a:rPr lang="en-US" altLang="en-GB"/>
              <a:t>u mặt phẳng tối </a:t>
            </a:r>
            <a:r>
              <a:rPr lang="en-US" altLang="en-US"/>
              <a:t>ư</a:t>
            </a:r>
            <a:r>
              <a:rPr lang="en-US" altLang="en-GB"/>
              <a:t>u gi</a:t>
            </a:r>
            <a:r>
              <a:rPr lang="en-US" altLang="en-US"/>
              <a:t>ú</a:t>
            </a:r>
            <a:r>
              <a:rPr lang="en-US" altLang="en-GB"/>
              <a:t>p tối </a:t>
            </a:r>
            <a:r>
              <a:rPr lang="en-US" altLang="en-US"/>
              <a:t>đ</a:t>
            </a:r>
            <a:r>
              <a:rPr lang="en-US" altLang="en-GB"/>
              <a:t>a h</a:t>
            </a:r>
            <a:r>
              <a:rPr lang="en-US" altLang="en-US"/>
              <a:t>ó</a:t>
            </a:r>
            <a:r>
              <a:rPr lang="en-US" altLang="en-GB"/>
              <a:t>a khoảng c</a:t>
            </a:r>
            <a:r>
              <a:rPr lang="en-US" altLang="en-US"/>
              <a:t>á</a:t>
            </a:r>
            <a:r>
              <a:rPr lang="en-US" altLang="en-GB"/>
              <a:t>ch giữa c</a:t>
            </a:r>
            <a:r>
              <a:rPr lang="en-US" altLang="en-US"/>
              <a:t>á</a:t>
            </a:r>
            <a:r>
              <a:rPr lang="en-US" altLang="en-GB"/>
              <a:t>c lớp kh</a:t>
            </a:r>
            <a:r>
              <a:rPr lang="en-US" altLang="en-US"/>
              <a:t>á</a:t>
            </a:r>
            <a:r>
              <a:rPr lang="en-US" altLang="en-GB"/>
              <a:t>c nhau trong không gian </a:t>
            </a:r>
            <a:r>
              <a:rPr lang="en-US" altLang="en-US"/>
              <a:t>đ</a:t>
            </a:r>
            <a:r>
              <a:rPr lang="en-US" altLang="en-GB"/>
              <a:t>ặc tr</a:t>
            </a:r>
            <a:r>
              <a:rPr lang="en-US" altLang="en-US"/>
              <a:t>ư</a:t>
            </a:r>
            <a:r>
              <a:rPr lang="en-US" altLang="en-GB"/>
              <a:t>ng.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Bằng c</a:t>
            </a:r>
            <a:r>
              <a:rPr lang="en-US" altLang="en-US"/>
              <a:t>á</a:t>
            </a:r>
            <a:r>
              <a:rPr lang="en-US" altLang="en-GB"/>
              <a:t>ch sử dụng "kenel trick", SVM c</a:t>
            </a:r>
            <a:r>
              <a:rPr lang="en-US" altLang="en-US"/>
              <a:t>ũ</a:t>
            </a:r>
            <a:r>
              <a:rPr lang="en-US" altLang="en-GB"/>
              <a:t>ng c</a:t>
            </a:r>
            <a:r>
              <a:rPr lang="en-US" altLang="en-US"/>
              <a:t>ó</a:t>
            </a:r>
            <a:r>
              <a:rPr lang="en-US" altLang="en-GB"/>
              <a:t> thể xử l</a:t>
            </a:r>
            <a:r>
              <a:rPr lang="en-US" altLang="en-US"/>
              <a:t>ý</a:t>
            </a:r>
            <a:r>
              <a:rPr lang="en-US" altLang="en-GB"/>
              <a:t> c</a:t>
            </a:r>
            <a:r>
              <a:rPr lang="en-US" altLang="en-US"/>
              <a:t>á</a:t>
            </a:r>
            <a:r>
              <a:rPr lang="en-US" altLang="en-GB"/>
              <a:t>c mối quan hệ phi tuyến t</a:t>
            </a:r>
            <a:r>
              <a:rPr lang="en-US" altLang="en-US"/>
              <a:t>í</a:t>
            </a:r>
            <a:r>
              <a:rPr lang="en-US" altLang="en-GB"/>
              <a:t>nh bằng c</a:t>
            </a:r>
            <a:r>
              <a:rPr lang="en-US" altLang="en-US"/>
              <a:t>á</a:t>
            </a:r>
            <a:r>
              <a:rPr lang="en-US" altLang="en-GB"/>
              <a:t>ch chuyển </a:t>
            </a:r>
            <a:r>
              <a:rPr lang="en-US" altLang="en-US"/>
              <a:t>đ</a:t>
            </a:r>
            <a:r>
              <a:rPr lang="en-US" altLang="en-GB"/>
              <a:t>ổi dữ liệu sang không gian </a:t>
            </a:r>
            <a:r>
              <a:rPr lang="en-US" altLang="en-US"/>
              <a:t>đ</a:t>
            </a:r>
            <a:r>
              <a:rPr lang="en-US" altLang="en-GB"/>
              <a:t>a chiều h</a:t>
            </a:r>
            <a:r>
              <a:rPr lang="en-US" altLang="en-US"/>
              <a:t>ơ</a:t>
            </a:r>
            <a:r>
              <a:rPr lang="en-US" altLang="en-GB"/>
              <a:t>n.</a:t>
            </a:r>
            <a:endParaRPr lang="en-GB" altLang="en-US"/>
          </a:p>
        </p:txBody>
      </p:sp>
      <p:pic>
        <p:nvPicPr>
          <p:cNvPr id="5" name="Picture 4"/>
          <p:cNvPicPr/>
          <p:nvPr/>
        </p:nvPicPr>
        <p:blipFill>
          <a:blip r:embed="rId1"/>
          <a:srcRect l="50014" r="2096"/>
          <a:stretch>
            <a:fillRect/>
          </a:stretch>
        </p:blipFill>
        <p:spPr>
          <a:xfrm>
            <a:off x="8174990" y="3780155"/>
            <a:ext cx="3206750" cy="26860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l="16486" t="4157" r="17338" b="20917"/>
          <a:stretch>
            <a:fillRect/>
          </a:stretch>
        </p:blipFill>
        <p:spPr>
          <a:xfrm>
            <a:off x="7945120" y="565785"/>
            <a:ext cx="3667125" cy="29838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2766060"/>
            <a:ext cx="10515600" cy="1325563"/>
          </a:xfrm>
        </p:spPr>
        <p:txBody>
          <a:bodyPr>
            <a:normAutofit/>
          </a:bodyPr>
          <a:p>
            <a:pPr algn="ctr"/>
            <a:r>
              <a:rPr lang="en-US" altLang="en-GB">
                <a:cs typeface="+mj-lt"/>
              </a:rPr>
              <a:t>Evaluation</a:t>
            </a:r>
            <a:endParaRPr lang="en-US" altLang="en-GB">
              <a:cs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Phương pháp đánh giá</a:t>
            </a:r>
            <a:endParaRPr lang="en-US" altLang="en-GB" sz="4000">
              <a:cs typeface="+mj-lt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263140" y="2634615"/>
            <a:ext cx="7559675" cy="1589405"/>
            <a:chOff x="1320" y="2926"/>
            <a:chExt cx="11905" cy="250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Text Box 2"/>
                <p:cNvSpPr txBox="1"/>
                <p:nvPr/>
              </p:nvSpPr>
              <p:spPr>
                <a:xfrm>
                  <a:off x="1320" y="2926"/>
                  <a:ext cx="3600" cy="959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𝑃𝑟𝑒𝑐𝑖𝑠𝑖𝑜𝑛</m:t>
                        </m:r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𝑇𝑃</m:t>
                            </m:r>
                          </m:num>
                          <m:den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𝑇𝑃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𝐹𝑃</m:t>
                            </m:r>
                          </m:den>
                        </m:f>
                      </m:oMath>
                    </m:oMathPara>
                  </a14:m>
                  <a:endParaRPr lang="en-GB" altLang="en-US"/>
                </a:p>
              </p:txBody>
            </p:sp>
          </mc:Choice>
          <mc:Fallback>
            <p:sp>
              <p:nvSpPr>
                <p:cNvPr id="3" name="Text 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0" y="2926"/>
                  <a:ext cx="3600" cy="959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en-GB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Text Box 3"/>
                <p:cNvSpPr txBox="1"/>
                <p:nvPr/>
              </p:nvSpPr>
              <p:spPr>
                <a:xfrm>
                  <a:off x="1320" y="4470"/>
                  <a:ext cx="3112" cy="959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𝑅𝑒𝑐𝑎𝑙𝑙</m:t>
                        </m:r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𝑇𝑃</m:t>
                            </m:r>
                          </m:num>
                          <m:den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𝑇𝑃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𝐹𝑁</m:t>
                            </m:r>
                          </m:den>
                        </m:f>
                      </m:oMath>
                    </m:oMathPara>
                  </a14:m>
                  <a:endParaRPr lang="en-GB" altLang="en-US"/>
                </a:p>
              </p:txBody>
            </p:sp>
          </mc:Choice>
          <mc:Fallback>
            <p:sp>
              <p:nvSpPr>
                <p:cNvPr id="4" name="Text Box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0" y="4470"/>
                  <a:ext cx="3112" cy="959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en-GB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 Box 4"/>
                <p:cNvSpPr txBox="1"/>
                <p:nvPr/>
              </p:nvSpPr>
              <p:spPr>
                <a:xfrm>
                  <a:off x="7316" y="2926"/>
                  <a:ext cx="5909" cy="973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𝐹</m:t>
                        </m:r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𝑠𝑐𝑜𝑟𝑒</m:t>
                        </m:r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⋅</m:t>
                        </m:r>
                        <m:f>
                          <m:fPr>
                            <m:ctrlP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𝑃𝑟𝑒𝑐𝑖𝑠𝑖𝑜𝑛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⋅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𝑅𝑒𝑐𝑎𝑙𝑙</m:t>
                            </m:r>
                          </m:num>
                          <m:den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𝑃𝑟𝑒𝑐𝑖𝑠𝑖𝑜𝑛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𝑅𝑒𝑐𝑎𝑙𝑙</m:t>
                            </m:r>
                          </m:den>
                        </m:f>
                      </m:oMath>
                    </m:oMathPara>
                  </a14:m>
                  <a:endParaRPr lang="en-GB" altLang="en-US"/>
                </a:p>
              </p:txBody>
            </p:sp>
          </mc:Choice>
          <mc:Fallback>
            <p:sp>
              <p:nvSpPr>
                <p:cNvPr id="5" name="Text 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6" y="2926"/>
                  <a:ext cx="5909" cy="973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GB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 Box 5"/>
                <p:cNvSpPr txBox="1"/>
                <p:nvPr/>
              </p:nvSpPr>
              <p:spPr>
                <a:xfrm>
                  <a:off x="7316" y="4470"/>
                  <a:ext cx="3609" cy="951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𝐴𝑐𝑐𝑢𝑟𝑎𝑐𝑦</m:t>
                        </m:r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𝑇𝑃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𝑇𝑁</m:t>
                            </m:r>
                          </m:num>
                          <m:den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𝑇𝑜𝑡𝑎𝑙</m:t>
                            </m:r>
                          </m:den>
                        </m:f>
                      </m:oMath>
                    </m:oMathPara>
                  </a14:m>
                  <a:endParaRPr lang="en-GB" altLang="en-US"/>
                </a:p>
              </p:txBody>
            </p:sp>
          </mc:Choice>
          <mc:Fallback>
            <p:sp>
              <p:nvSpPr>
                <p:cNvPr id="6" name="Text 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6" y="4470"/>
                  <a:ext cx="3609" cy="951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en-GB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Testset</a:t>
            </a:r>
            <a:endParaRPr lang="en-US" altLang="en-GB" sz="4000">
              <a:cs typeface="+mj-lt"/>
            </a:endParaRPr>
          </a:p>
        </p:txBody>
      </p:sp>
      <p:graphicFrame>
        <p:nvGraphicFramePr>
          <p:cNvPr id="3" name="Table 2"/>
          <p:cNvGraphicFramePr/>
          <p:nvPr/>
        </p:nvGraphicFramePr>
        <p:xfrm>
          <a:off x="2607945" y="2667000"/>
          <a:ext cx="6976110" cy="15240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320925"/>
                <a:gridCol w="1179195"/>
                <a:gridCol w="1169035"/>
                <a:gridCol w="1148080"/>
                <a:gridCol w="1158875"/>
              </a:tblGrid>
              <a:tr h="381000"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Model</a:t>
                      </a:r>
                      <a:endParaRPr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Accuracy</a:t>
                      </a:r>
                      <a:endParaRPr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Precision</a:t>
                      </a:r>
                      <a:endParaRPr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Recall</a:t>
                      </a:r>
                      <a:endParaRPr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F1-Score</a:t>
                      </a:r>
                      <a:endParaRPr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</a:tr>
              <a:tr h="38100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Lo.R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0.9228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0.927</a:t>
                      </a:r>
                      <a:r>
                        <a:rPr lang="en-US"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</a:t>
                      </a:r>
                      <a:endParaRPr lang="en-US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0.9228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0.9236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</a:tr>
              <a:tr h="38100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Naive Bayes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0.918</a:t>
                      </a:r>
                      <a:r>
                        <a:rPr lang="en-US"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8</a:t>
                      </a:r>
                      <a:endParaRPr lang="en-US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0.920</a:t>
                      </a:r>
                      <a:r>
                        <a:rPr lang="en-US"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1</a:t>
                      </a:r>
                      <a:endParaRPr lang="en-US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0.918</a:t>
                      </a:r>
                      <a:r>
                        <a:rPr lang="en-US"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8</a:t>
                      </a:r>
                      <a:endParaRPr lang="en-US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0.919</a:t>
                      </a:r>
                      <a:r>
                        <a:rPr lang="en-US"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2</a:t>
                      </a:r>
                      <a:endParaRPr lang="en-US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</a:tr>
              <a:tr h="38100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Linear-SVM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</a:t>
                      </a:r>
                      <a:r>
                        <a:rPr lang="en-US"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60</a:t>
                      </a:r>
                      <a:endParaRPr lang="en-US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0.928</a:t>
                      </a:r>
                      <a:r>
                        <a:rPr lang="en-US"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7</a:t>
                      </a:r>
                      <a:endParaRPr lang="en-US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</a:t>
                      </a:r>
                      <a:r>
                        <a:rPr lang="en-US"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60</a:t>
                      </a:r>
                      <a:endParaRPr lang="en-US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0.9267</a:t>
                      </a:r>
                      <a:endParaRPr lang="en-US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0" y="2229485"/>
            <a:ext cx="11468100" cy="314134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Confusion Matrix</a:t>
            </a:r>
            <a:endParaRPr lang="en-US" altLang="en-GB" sz="4000">
              <a:cs typeface="+mj-l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Hyperparameter Tuning</a:t>
            </a:r>
            <a:endParaRPr lang="en-US" altLang="en-GB" sz="4000">
              <a:cs typeface="+mj-lt"/>
            </a:endParaRPr>
          </a:p>
        </p:txBody>
      </p:sp>
      <p:graphicFrame>
        <p:nvGraphicFramePr>
          <p:cNvPr id="3" name="Table 2"/>
          <p:cNvGraphicFramePr/>
          <p:nvPr>
            <p:custDataLst>
              <p:tags r:id="rId1"/>
            </p:custDataLst>
          </p:nvPr>
        </p:nvGraphicFramePr>
        <p:xfrm>
          <a:off x="2301240" y="1869440"/>
          <a:ext cx="7589520" cy="3119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786255"/>
                <a:gridCol w="5803265"/>
              </a:tblGrid>
              <a:tr h="527050"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Model</a:t>
                      </a:r>
                      <a:endParaRPr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Hyperparameter</a:t>
                      </a:r>
                      <a:endParaRPr lang="en-US"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</a:tr>
              <a:tr h="86360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Lo.R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'clf__C': 1, 'clf__loss': 'hinge',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  <a:p>
                      <a:pPr algn="l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'tfidf__ngram_range': (1, 2), 'tfidf__norm': 'l2'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</a:tr>
              <a:tr h="864235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Naive Bayes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'clf__C': 10, 'clf__solver': 'lbfgs',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  <a:p>
                      <a:pPr algn="l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'tfidf__ngram_range': (1, 3), 'tfidf__use_idf': True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</a:tr>
              <a:tr h="864235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Linear-SVM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l" fontAlgn="ctr"/>
                      <a:r>
                        <a:rPr lang="en-US" altLang="en-GB"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'clf__alpha': 1, 'tfidf__max_features': None, 'tfidf__ngram_range': (1, 3)</a:t>
                      </a:r>
                      <a:endParaRPr lang="en-US" altLang="en-GB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Testset - Tuning</a:t>
            </a:r>
            <a:endParaRPr lang="en-US" altLang="en-GB" sz="4000">
              <a:cs typeface="+mj-lt"/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2607945" y="2667000"/>
          <a:ext cx="6976110" cy="15240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320925"/>
                <a:gridCol w="1179195"/>
                <a:gridCol w="1169035"/>
                <a:gridCol w="1148080"/>
                <a:gridCol w="1158875"/>
              </a:tblGrid>
              <a:tr h="381000"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Model</a:t>
                      </a:r>
                      <a:endParaRPr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Accuracy</a:t>
                      </a:r>
                      <a:endParaRPr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Precision</a:t>
                      </a:r>
                      <a:endParaRPr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Recall</a:t>
                      </a:r>
                      <a:endParaRPr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F1-Score</a:t>
                      </a:r>
                      <a:endParaRPr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</a:tr>
              <a:tr h="38100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Lo.R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0.9260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0.9285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0.9260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0.9265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</a:tr>
              <a:tr h="38100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Naive Bayes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0.9188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0.9201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0.9188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0.9192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</a:tr>
              <a:tr h="38100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Linear-SVM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0.9269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0.9299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0.9269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0.9275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Confusion Matrix - Tuning</a:t>
            </a:r>
            <a:endParaRPr lang="en-US" altLang="en-GB" sz="4000">
              <a:cs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585" y="2119630"/>
            <a:ext cx="11213470" cy="35947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2766060"/>
            <a:ext cx="10515600" cy="1325563"/>
          </a:xfrm>
        </p:spPr>
        <p:txBody>
          <a:bodyPr>
            <a:normAutofit/>
          </a:bodyPr>
          <a:p>
            <a:pPr algn="ctr"/>
            <a:r>
              <a:rPr lang="en-US" altLang="en-GB">
                <a:cs typeface="+mj-lt"/>
              </a:rPr>
              <a:t>Thank you!</a:t>
            </a:r>
            <a:endParaRPr lang="en-US" altLang="en-GB">
              <a:cs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TABLE_ENDDRAG_ORIGIN_RECT" val="332*91"/>
  <p:tag name="TABLE_ENDDRAG_RECT" val="308*386*332*91"/>
</p:tagLst>
</file>

<file path=ppt/tags/tag2.xml><?xml version="1.0" encoding="utf-8"?>
<p:tagLst xmlns:p="http://schemas.openxmlformats.org/presentationml/2006/main">
  <p:tag name="TABLE_ENDDRAG_ORIGIN_RECT" val="840*177"/>
  <p:tag name="TABLE_ENDDRAG_RECT" val="65*195*840*177"/>
</p:tagLst>
</file>

<file path=ppt/tags/tag3.xml><?xml version="1.0" encoding="utf-8"?>
<p:tagLst xmlns:p="http://schemas.openxmlformats.org/presentationml/2006/main">
  <p:tag name="TABLE_ENDDRAG_ORIGIN_RECT" val="499*131"/>
  <p:tag name="TABLE_ENDDRAG_RECT" val="66*155*499*131"/>
</p:tagLst>
</file>

<file path=ppt/tags/tag4.xml><?xml version="1.0" encoding="utf-8"?>
<p:tagLst xmlns:p="http://schemas.openxmlformats.org/presentationml/2006/main">
  <p:tag name="TABLE_ENDDRAG_ORIGIN_RECT" val="597*245"/>
  <p:tag name="TABLE_ENDDRAG_RECT" val="205*210*597*24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4742</Words>
  <Application>WPS Presentation</Application>
  <PresentationFormat>Widescreen</PresentationFormat>
  <Paragraphs>303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4" baseType="lpstr">
      <vt:lpstr>Arial</vt:lpstr>
      <vt:lpstr>SimSun</vt:lpstr>
      <vt:lpstr>Wingdings</vt:lpstr>
      <vt:lpstr>Wingdings</vt:lpstr>
      <vt:lpstr>Segoe WPC</vt:lpstr>
      <vt:lpstr>JetBrainsMono NF</vt:lpstr>
      <vt:lpstr>Calibri Light</vt:lpstr>
      <vt:lpstr>Calibri</vt:lpstr>
      <vt:lpstr>Microsoft YaHei</vt:lpstr>
      <vt:lpstr>Arial Unicode MS</vt:lpstr>
      <vt:lpstr>Cambria Math</vt:lpstr>
      <vt:lpstr>Office Theme</vt:lpstr>
      <vt:lpstr>Phân loại bình luận tiêu cực (Phân loại cảm xúc từ phản hồi của sinh viên)</vt:lpstr>
      <vt:lpstr>Mục lục</vt:lpstr>
      <vt:lpstr>Introduction</vt:lpstr>
      <vt:lpstr>Sentiment Analysis?</vt:lpstr>
      <vt:lpstr>Lý do chọn đề tài?</vt:lpstr>
      <vt:lpstr>Dataset</vt:lpstr>
      <vt:lpstr>Tổng quan bộ dữ liệu UIT-VSFC</vt:lpstr>
      <vt:lpstr>Các feature - label</vt:lpstr>
      <vt:lpstr>EDA</vt:lpstr>
      <vt:lpstr>Phân bổ nhãn</vt:lpstr>
      <vt:lpstr>Phân bổ độ dài câu theo nhãn</vt:lpstr>
      <vt:lpstr>Số đặc điểm đặc biệt trong văn bản</vt:lpstr>
      <vt:lpstr>Tần suất xuất hiện các từ theo nhãn</vt:lpstr>
      <vt:lpstr>Pre-processing</vt:lpstr>
      <vt:lpstr>Quy trình</vt:lpstr>
      <vt:lpstr>Tokenization</vt:lpstr>
      <vt:lpstr>Stopwords</vt:lpstr>
      <vt:lpstr>PowerPoint 演示文稿</vt:lpstr>
      <vt:lpstr>Vectorization</vt:lpstr>
      <vt:lpstr>TF-IDF</vt:lpstr>
      <vt:lpstr>Model</vt:lpstr>
      <vt:lpstr>Logistic Regression</vt:lpstr>
      <vt:lpstr>Naive Bayes</vt:lpstr>
      <vt:lpstr>Support Vector Machine</vt:lpstr>
      <vt:lpstr>Evaluation</vt:lpstr>
      <vt:lpstr>Phương pháp đánh giá</vt:lpstr>
      <vt:lpstr>Testset</vt:lpstr>
      <vt:lpstr>Confusion Matrix</vt:lpstr>
      <vt:lpstr>Hyperparameter Tuning</vt:lpstr>
      <vt:lpstr>Testset - Tuning</vt:lpstr>
      <vt:lpstr>Confusion Matrix - Tuning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Trần Khánh Toàn</cp:lastModifiedBy>
  <cp:revision>747</cp:revision>
  <dcterms:created xsi:type="dcterms:W3CDTF">2025-07-23T00:59:00Z</dcterms:created>
  <dcterms:modified xsi:type="dcterms:W3CDTF">2025-12-27T00:45:44Z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94A56BCE288A4624B12A17040A4910BB_11</vt:lpwstr>
  </property>
  <property fmtid="{D5CDD505-2E9C-101B-9397-08002B2CF9AE}" pid="3" name="KSOProductBuildVer">
    <vt:lpwstr>2057-12.2.0.23158</vt:lpwstr>
  </property>
</Properties>
</file>